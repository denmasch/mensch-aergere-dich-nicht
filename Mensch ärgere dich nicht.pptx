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embeddedFontLst>
    <p:embeddedFont>
      <p:font typeface="Economica"/>
      <p:regular r:id="rId65"/>
      <p:bold r:id="rId66"/>
      <p:italic r:id="rId67"/>
      <p:boldItalic r:id="rId68"/>
    </p:embeddedFont>
    <p:embeddedFont>
      <p:font typeface="Roboto Mono Light"/>
      <p:regular r:id="rId69"/>
      <p:bold r:id="rId70"/>
      <p:italic r:id="rId71"/>
      <p:boldItalic r:id="rId72"/>
    </p:embeddedFont>
    <p:embeddedFont>
      <p:font typeface="Open Sans"/>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OpenSans-regular.fntdata"/><Relationship Id="rId72" Type="http://schemas.openxmlformats.org/officeDocument/2006/relationships/font" Target="fonts/RobotoMonoLight-boldItalic.fntdata"/><Relationship Id="rId31" Type="http://schemas.openxmlformats.org/officeDocument/2006/relationships/slide" Target="slides/slide26.xml"/><Relationship Id="rId75" Type="http://schemas.openxmlformats.org/officeDocument/2006/relationships/font" Target="fonts/OpenSans-italic.fntdata"/><Relationship Id="rId30" Type="http://schemas.openxmlformats.org/officeDocument/2006/relationships/slide" Target="slides/slide25.xml"/><Relationship Id="rId74" Type="http://schemas.openxmlformats.org/officeDocument/2006/relationships/font" Target="fonts/OpenSans-bold.fntdata"/><Relationship Id="rId33" Type="http://schemas.openxmlformats.org/officeDocument/2006/relationships/slide" Target="slides/slide28.xml"/><Relationship Id="rId32" Type="http://schemas.openxmlformats.org/officeDocument/2006/relationships/slide" Target="slides/slide27.xml"/><Relationship Id="rId76" Type="http://schemas.openxmlformats.org/officeDocument/2006/relationships/font" Target="fonts/OpenSans-boldItalic.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MonoLight-italic.fntdata"/><Relationship Id="rId70" Type="http://schemas.openxmlformats.org/officeDocument/2006/relationships/font" Target="fonts/RobotoMonoLight-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Economica-bold.fntdata"/><Relationship Id="rId21" Type="http://schemas.openxmlformats.org/officeDocument/2006/relationships/slide" Target="slides/slide16.xml"/><Relationship Id="rId65" Type="http://schemas.openxmlformats.org/officeDocument/2006/relationships/font" Target="fonts/Economica-regular.fntdata"/><Relationship Id="rId24" Type="http://schemas.openxmlformats.org/officeDocument/2006/relationships/slide" Target="slides/slide19.xml"/><Relationship Id="rId68" Type="http://schemas.openxmlformats.org/officeDocument/2006/relationships/font" Target="fonts/Economica-boldItalic.fntdata"/><Relationship Id="rId23" Type="http://schemas.openxmlformats.org/officeDocument/2006/relationships/slide" Target="slides/slide18.xml"/><Relationship Id="rId67" Type="http://schemas.openxmlformats.org/officeDocument/2006/relationships/font" Target="fonts/Economica-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onoLight-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3c082186b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3c082186b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3c082186b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3c082186b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3c082186b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3c082186b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br>
              <a:rPr lang="de"/>
            </a:br>
            <a:r>
              <a:rPr lang="de"/>
              <a:t>Regeln nach “Schmidt Spiele”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b5f400a0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b5f400a0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b5f400a0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b5f400a0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3c082186b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3c082186b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3c082186b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3c082186b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5bdb8deb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5bdb8deb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5bdb8deb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5bdb8deb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br>
              <a:rPr lang="de"/>
            </a:br>
            <a:r>
              <a:rPr lang="de"/>
              <a:t>Domaincode: interne logik für menschärgere dich nicht. (spielablauf, valide züge testen)</a:t>
            </a:r>
            <a:endParaRPr/>
          </a:p>
          <a:p>
            <a:pPr indent="0" lvl="0" marL="0" rtl="0" algn="l">
              <a:spcBef>
                <a:spcPts val="0"/>
              </a:spcBef>
              <a:spcAft>
                <a:spcPts val="0"/>
              </a:spcAft>
              <a:buNone/>
            </a:pPr>
            <a:r>
              <a:rPr lang="de"/>
              <a:t>Use Cases: Koordiniert den Datenfluss und verwaltet Games</a:t>
            </a:r>
            <a:endParaRPr/>
          </a:p>
          <a:p>
            <a:pPr indent="0" lvl="0" marL="0" rtl="0" algn="l">
              <a:spcBef>
                <a:spcPts val="0"/>
              </a:spcBef>
              <a:spcAft>
                <a:spcPts val="0"/>
              </a:spcAft>
              <a:buNone/>
            </a:pPr>
            <a:r>
              <a:rPr lang="de"/>
              <a:t>Gateway: Kommunikations schricht zwischen externen komponenten und dem Kern</a:t>
            </a:r>
            <a:endParaRPr/>
          </a:p>
          <a:p>
            <a:pPr indent="0" lvl="0" marL="0" rtl="0" algn="l">
              <a:spcBef>
                <a:spcPts val="0"/>
              </a:spcBef>
              <a:spcAft>
                <a:spcPts val="0"/>
              </a:spcAft>
              <a:buNone/>
            </a:pPr>
            <a:r>
              <a:rPr lang="de"/>
              <a:t>Frameworks und externe systeme: Websocket und CLI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a74f2a74a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a74f2a74a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a74f2a74a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a74f2a74a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a74f2a74a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a74f2a74a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br>
              <a:rPr lang="de"/>
            </a:br>
            <a:r>
              <a:rPr lang="de"/>
              <a:t>Messages werden zu JSON serialisiert und über Websocket übertragen</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DTOs repräsentieren Objekte eines spiels (zur übertragung an client)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5bdb8deb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5bdb8deb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a:p>
            <a:pPr indent="0" lvl="0" marL="0" rtl="0" algn="l">
              <a:spcBef>
                <a:spcPts val="0"/>
              </a:spcBef>
              <a:spcAft>
                <a:spcPts val="0"/>
              </a:spcAft>
              <a:buNone/>
            </a:pPr>
            <a:r>
              <a:rPr lang="de"/>
              <a:t>Domain code ist der kern der anwendung, es ist langlebiger code der technologie unabhänig sein soll. Den Domain code interesiert es nicht was für eine datenbank dahinter ist oder wie das frontend aussieht.</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Beispiel MoveValidator. Egal wie der Server mit dem Client kommuniziert, es ist nie möglich eine eigene Figur zu schlagen oder mit einer 1 aus dem Haus zu kommen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5bdb8deb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d5bdb8deb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abhängigkeiten dürfen nur von außen nach innen gehen. abhängigkeit über abstraktionen zb interfaces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bb37c618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dbb37c618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5bdb8deb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d5bdb8deb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5bdb8deb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5bdb8deb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b5f400a0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b5f400a0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800">
                <a:solidFill>
                  <a:schemeClr val="dk1"/>
                </a:solidFill>
                <a:latin typeface="Economica"/>
                <a:ea typeface="Economica"/>
                <a:cs typeface="Economica"/>
                <a:sym typeface="Economica"/>
              </a:rPr>
              <a:t>Jannik</a:t>
            </a:r>
            <a:br>
              <a:rPr lang="de" sz="1800">
                <a:solidFill>
                  <a:schemeClr val="dk1"/>
                </a:solidFill>
                <a:latin typeface="Economica"/>
                <a:ea typeface="Economica"/>
                <a:cs typeface="Economica"/>
                <a:sym typeface="Economica"/>
              </a:rPr>
            </a:br>
            <a:r>
              <a:rPr lang="de" sz="1800">
                <a:solidFill>
                  <a:schemeClr val="dk1"/>
                </a:solidFill>
                <a:latin typeface="Economica"/>
                <a:ea typeface="Economica"/>
                <a:cs typeface="Economica"/>
                <a:sym typeface="Economica"/>
              </a:rPr>
              <a:t>Console Client  ist eine gottklasse </a:t>
            </a:r>
            <a:endParaRPr sz="1800">
              <a:solidFill>
                <a:schemeClr val="dk1"/>
              </a:solidFill>
              <a:latin typeface="Economica"/>
              <a:ea typeface="Economica"/>
              <a:cs typeface="Economica"/>
              <a:sym typeface="Economica"/>
            </a:endParaRPr>
          </a:p>
          <a:p>
            <a:pPr indent="0" lvl="0" marL="0" rtl="0" algn="l">
              <a:lnSpc>
                <a:spcPct val="115000"/>
              </a:lnSpc>
              <a:spcBef>
                <a:spcPts val="1200"/>
              </a:spcBef>
              <a:spcAft>
                <a:spcPts val="0"/>
              </a:spcAft>
              <a:buNone/>
            </a:pPr>
            <a:r>
              <a:rPr lang="de" sz="1800">
                <a:solidFill>
                  <a:schemeClr val="dk1"/>
                </a:solidFill>
                <a:latin typeface="Economica"/>
                <a:ea typeface="Economica"/>
                <a:cs typeface="Economica"/>
                <a:sym typeface="Economica"/>
              </a:rPr>
              <a:t>Websocket nachrichten empfang</a:t>
            </a:r>
            <a:endParaRPr sz="1800">
              <a:solidFill>
                <a:schemeClr val="dk1"/>
              </a:solidFill>
              <a:latin typeface="Economica"/>
              <a:ea typeface="Economica"/>
              <a:cs typeface="Economica"/>
              <a:sym typeface="Economica"/>
            </a:endParaRPr>
          </a:p>
          <a:p>
            <a:pPr indent="0" lvl="0" marL="0" rtl="0" algn="l">
              <a:lnSpc>
                <a:spcPct val="115000"/>
              </a:lnSpc>
              <a:spcBef>
                <a:spcPts val="1200"/>
              </a:spcBef>
              <a:spcAft>
                <a:spcPts val="0"/>
              </a:spcAft>
              <a:buNone/>
            </a:pPr>
            <a:r>
              <a:rPr lang="de" sz="1800">
                <a:solidFill>
                  <a:schemeClr val="dk1"/>
                </a:solidFill>
                <a:latin typeface="Economica"/>
                <a:ea typeface="Economica"/>
                <a:cs typeface="Economica"/>
                <a:sym typeface="Economica"/>
              </a:rPr>
              <a:t>UI anzeigen</a:t>
            </a:r>
            <a:endParaRPr sz="1800">
              <a:solidFill>
                <a:schemeClr val="dk1"/>
              </a:solidFill>
              <a:latin typeface="Economica"/>
              <a:ea typeface="Economica"/>
              <a:cs typeface="Economica"/>
              <a:sym typeface="Economica"/>
            </a:endParaRPr>
          </a:p>
          <a:p>
            <a:pPr indent="0" lvl="0" marL="0" rtl="0" algn="l">
              <a:lnSpc>
                <a:spcPct val="115000"/>
              </a:lnSpc>
              <a:spcBef>
                <a:spcPts val="1200"/>
              </a:spcBef>
              <a:spcAft>
                <a:spcPts val="0"/>
              </a:spcAft>
              <a:buNone/>
            </a:pPr>
            <a:r>
              <a:rPr lang="de" sz="1800">
                <a:solidFill>
                  <a:schemeClr val="dk1"/>
                </a:solidFill>
                <a:latin typeface="Economica"/>
                <a:ea typeface="Economica"/>
                <a:cs typeface="Economica"/>
                <a:sym typeface="Economica"/>
              </a:rPr>
              <a:t>hauptprogramm loop</a:t>
            </a:r>
            <a:endParaRPr sz="1800">
              <a:solidFill>
                <a:schemeClr val="dk1"/>
              </a:solidFill>
              <a:latin typeface="Economica"/>
              <a:ea typeface="Economica"/>
              <a:cs typeface="Economica"/>
              <a:sym typeface="Economica"/>
            </a:endParaRPr>
          </a:p>
          <a:p>
            <a:pPr indent="0" lvl="0" marL="0" rtl="0" algn="l">
              <a:lnSpc>
                <a:spcPct val="115000"/>
              </a:lnSpc>
              <a:spcBef>
                <a:spcPts val="1200"/>
              </a:spcBef>
              <a:spcAft>
                <a:spcPts val="0"/>
              </a:spcAft>
              <a:buNone/>
            </a:pPr>
            <a:r>
              <a:t/>
            </a:r>
            <a:endParaRPr sz="1800">
              <a:solidFill>
                <a:schemeClr val="dk1"/>
              </a:solidFill>
              <a:latin typeface="Economica"/>
              <a:ea typeface="Economica"/>
              <a:cs typeface="Economica"/>
              <a:sym typeface="Economica"/>
            </a:endParaRPr>
          </a:p>
          <a:p>
            <a:pPr indent="0" lvl="0" marL="0" rtl="0" algn="l">
              <a:lnSpc>
                <a:spcPct val="115000"/>
              </a:lnSpc>
              <a:spcBef>
                <a:spcPts val="1200"/>
              </a:spcBef>
              <a:spcAft>
                <a:spcPts val="0"/>
              </a:spcAft>
              <a:buNone/>
            </a:pPr>
            <a:r>
              <a:rPr lang="de" sz="1800">
                <a:solidFill>
                  <a:schemeClr val="dk1"/>
                </a:solidFill>
                <a:latin typeface="Economica"/>
                <a:ea typeface="Economica"/>
                <a:cs typeface="Economica"/>
                <a:sym typeface="Economica"/>
              </a:rPr>
              <a:t>besser: </a:t>
            </a:r>
            <a:endParaRPr sz="1800">
              <a:solidFill>
                <a:schemeClr val="dk1"/>
              </a:solidFill>
              <a:latin typeface="Economica"/>
              <a:ea typeface="Economica"/>
              <a:cs typeface="Economica"/>
              <a:sym typeface="Economica"/>
            </a:endParaRPr>
          </a:p>
          <a:p>
            <a:pPr indent="0" lvl="0" marL="0" rtl="0" algn="l">
              <a:lnSpc>
                <a:spcPct val="115000"/>
              </a:lnSpc>
              <a:spcBef>
                <a:spcPts val="1200"/>
              </a:spcBef>
              <a:spcAft>
                <a:spcPts val="0"/>
              </a:spcAft>
              <a:buNone/>
            </a:pPr>
            <a:r>
              <a:rPr lang="de" sz="1800">
                <a:solidFill>
                  <a:schemeClr val="dk1"/>
                </a:solidFill>
                <a:latin typeface="Economica"/>
                <a:ea typeface="Economica"/>
                <a:cs typeface="Economica"/>
                <a:sym typeface="Economica"/>
              </a:rPr>
              <a:t>Aufteilen in GameManager, MessageDispatcher und UI klasse </a:t>
            </a:r>
            <a:endParaRPr sz="1800">
              <a:solidFill>
                <a:schemeClr val="dk1"/>
              </a:solidFill>
              <a:latin typeface="Economica"/>
              <a:ea typeface="Economica"/>
              <a:cs typeface="Economica"/>
              <a:sym typeface="Economica"/>
            </a:endParaRPr>
          </a:p>
          <a:p>
            <a:pPr indent="0" lvl="0" marL="0" rtl="0" algn="l">
              <a:lnSpc>
                <a:spcPct val="115000"/>
              </a:lnSpc>
              <a:spcBef>
                <a:spcPts val="1200"/>
              </a:spcBef>
              <a:spcAft>
                <a:spcPts val="0"/>
              </a:spcAft>
              <a:buNone/>
            </a:pPr>
            <a:r>
              <a:t/>
            </a:r>
            <a:endParaRPr sz="1800">
              <a:solidFill>
                <a:schemeClr val="dk1"/>
              </a:solidFill>
              <a:latin typeface="Economica"/>
              <a:ea typeface="Economica"/>
              <a:cs typeface="Economica"/>
              <a:sym typeface="Economica"/>
            </a:endParaRPr>
          </a:p>
          <a:p>
            <a:pPr indent="0" lvl="0" marL="0" rtl="0" algn="l">
              <a:lnSpc>
                <a:spcPct val="115000"/>
              </a:lnSpc>
              <a:spcBef>
                <a:spcPts val="1200"/>
              </a:spcBef>
              <a:spcAft>
                <a:spcPts val="1200"/>
              </a:spcAft>
              <a:buClr>
                <a:schemeClr val="dk1"/>
              </a:buClr>
              <a:buSzPts val="1100"/>
              <a:buFont typeface="Arial"/>
              <a:buNone/>
            </a:pPr>
            <a:r>
              <a:t/>
            </a:r>
            <a:endParaRPr sz="1800">
              <a:solidFill>
                <a:schemeClr val="dk1"/>
              </a:solidFill>
              <a:latin typeface="Economica"/>
              <a:ea typeface="Economica"/>
              <a:cs typeface="Economica"/>
              <a:sym typeface="Economic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5bdb8deb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5bdb8deb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Open-Closed Principle: Software ist offen für erweiterungen und geschlossen für änderungen </a:t>
            </a:r>
            <a:br>
              <a:rPr lang="de"/>
            </a:br>
            <a:br>
              <a:rPr lang="de"/>
            </a:br>
            <a:r>
              <a:rPr lang="de"/>
              <a:t>Will man zB in eine Datenbank oder so loggen Kann die Logger klasse unverändert bleiben</a:t>
            </a:r>
            <a:endParaRPr/>
          </a:p>
          <a:p>
            <a:pPr indent="0" lvl="0" marL="0" rtl="0" algn="l">
              <a:spcBef>
                <a:spcPts val="0"/>
              </a:spcBef>
              <a:spcAft>
                <a:spcPts val="0"/>
              </a:spcAft>
              <a:buNone/>
            </a:pPr>
            <a:r>
              <a:rPr lang="de"/>
              <a:t>Es muss nur eine neue klasse die ILogWriter implementiert hinzugefügt werden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8826e83b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d8826e83b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a:p>
            <a:pPr indent="0" lvl="0" marL="0" rtl="0" algn="l">
              <a:spcBef>
                <a:spcPts val="0"/>
              </a:spcBef>
              <a:spcAft>
                <a:spcPts val="0"/>
              </a:spcAft>
              <a:buNone/>
            </a:pPr>
            <a:r>
              <a:rPr lang="de"/>
              <a:t>Verletzt OCP wenn neue MessageTypes hinzukommen muss das switch case angepasst werden</a:t>
            </a:r>
            <a:br>
              <a:rPr lang="de"/>
            </a:br>
            <a:r>
              <a:rPr lang="de"/>
              <a:t>Besser wäre zum beispiel ein Dictonary das die MessageTypes auf die richtigen typen mapt.</a:t>
            </a:r>
            <a:br>
              <a:rPr lang="de"/>
            </a:br>
            <a:br>
              <a:rPr lang="de"/>
            </a:br>
            <a:r>
              <a:rPr lang="de"/>
              <a:t>Lösung?</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c4e17c21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c4e17c21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a:t>Devin</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de"/>
              <a:t>GameManager:</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de"/>
              <a:t>gut. hängt von interfaces ab die über Constructor injection rein gegeben werden.</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de"/>
              <a:t>aber leider kleiner ball of mud. Erstellt konktrete Games. Besser wäre IGame und IGameFactory </a:t>
            </a:r>
            <a:endParaRPr b="1"/>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d5bdb8deb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d5bdb8deb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fast gut Game hängt nur von IPlayer ab</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aber:</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schlecht weil CPU player von Game abhängt (zirkuläre abhängigkeit)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c4e17c21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dc4e17c21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Besser wäre eine Callback funktion die das Game Abonieren kann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5bdb8deb3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5bdb8deb3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5bdb8deb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5bdb8deb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5bdb8deb3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5bdb8deb3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br>
              <a:rPr lang="de"/>
            </a:br>
            <a:br>
              <a:rPr lang="de"/>
            </a:br>
            <a:r>
              <a:rPr lang="de"/>
              <a:t>High Cohesion → definierte verwandte Elemente</a:t>
            </a:r>
            <a:br>
              <a:rPr lang="de"/>
            </a:br>
            <a:r>
              <a:rPr lang="de"/>
              <a:t>Information Expert → </a:t>
            </a:r>
            <a:r>
              <a:rPr lang="de" sz="1200">
                <a:solidFill>
                  <a:schemeClr val="dk1"/>
                </a:solidFill>
              </a:rPr>
              <a:t>Aufgaben der Klasse zuzuweisen, die über die notwendigen Daten zur Ausführung verfügt</a:t>
            </a:r>
            <a:r>
              <a:rPr lang="de">
                <a:solidFill>
                  <a:schemeClr val="dk1"/>
                </a:solidFill>
              </a:rPr>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5bdb8deb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d5bdb8deb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d5bdb8deb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d5bdb8deb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a74f2a74a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da74f2a74a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br>
              <a:rPr lang="de"/>
            </a:br>
            <a:r>
              <a:rPr lang="de"/>
              <a:t>Game gestartet</a:t>
            </a:r>
            <a:br>
              <a:rPr lang="de"/>
            </a:br>
            <a:r>
              <a:rPr lang="de"/>
              <a:t>StartGameMessage serialisiert soll vordefiniertes Ergebnis gleich sein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a74f2a74a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da74f2a74a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da74f2a74a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da74f2a74a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a:p>
            <a:pPr indent="0" lvl="0" marL="0" rtl="0" algn="l">
              <a:spcBef>
                <a:spcPts val="0"/>
              </a:spcBef>
              <a:spcAft>
                <a:spcPts val="0"/>
              </a:spcAft>
              <a:buNone/>
            </a:pPr>
            <a:r>
              <a:rPr lang="de"/>
              <a:t>Game wird mit 2 Mock Player erstellt</a:t>
            </a:r>
            <a:endParaRPr/>
          </a:p>
          <a:p>
            <a:pPr indent="0" lvl="0" marL="0" rtl="0" algn="l">
              <a:spcBef>
                <a:spcPts val="0"/>
              </a:spcBef>
              <a:spcAft>
                <a:spcPts val="0"/>
              </a:spcAft>
              <a:buNone/>
            </a:pPr>
            <a:r>
              <a:rPr lang="de"/>
              <a:t>Prüft ob NextPlayerMessage für p1 und p2 ankommt</a:t>
            </a:r>
            <a:endParaRPr/>
          </a:p>
          <a:p>
            <a:pPr indent="0" lvl="0" marL="0" rtl="0" algn="l">
              <a:spcBef>
                <a:spcPts val="0"/>
              </a:spcBef>
              <a:spcAft>
                <a:spcPts val="0"/>
              </a:spcAft>
              <a:buNone/>
            </a:pPr>
            <a:r>
              <a:rPr lang="de"/>
              <a:t>Vergleicht NextPlayerMessage von p1 mit Id und Color von p1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da74f2a74a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da74f2a74a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a74f2a74a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da74f2a74a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br>
              <a:rPr lang="de"/>
            </a:br>
            <a:r>
              <a:rPr lang="de"/>
              <a:t>RollDiceMessage wird gesendet</a:t>
            </a:r>
            <a:br>
              <a:rPr lang="de"/>
            </a:br>
            <a:r>
              <a:rPr lang="de"/>
              <a:t>Prüft das p1 die DieceResultMessage bekommt mit richtiger GameID </a:t>
            </a:r>
            <a:br>
              <a:rPr lang="de"/>
            </a:br>
            <a:r>
              <a:rPr lang="de"/>
              <a:t>Prüft das nur p2 NICHT die DiceResultMessage bekommt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da74f2a74a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da74f2a74a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da74f2a74a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da74f2a74a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br>
              <a:rPr lang="de"/>
            </a:br>
            <a:r>
              <a:rPr lang="de"/>
              <a:t>Prüft, dass Figur auf nicht auf schon besetztes Zielfeld geht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da74f2a74a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da74f2a74a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a74f2a74a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da74f2a74a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a:p>
            <a:pPr indent="0" lvl="0" marL="0" rtl="0" algn="l">
              <a:spcBef>
                <a:spcPts val="0"/>
              </a:spcBef>
              <a:spcAft>
                <a:spcPts val="0"/>
              </a:spcAft>
              <a:buNone/>
            </a:pPr>
            <a:r>
              <a:rPr lang="de"/>
              <a:t>Prüft das Figur nicht über die Zielfelder hinaus bewegen kann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a74f2a74a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da74f2a74a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Man konnte ansfangs keine figuren im ziel überspringen daher der unittest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d5bdb8deb3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d5bdb8deb3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8826e83b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d8826e83b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db9bafa2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db9bafa2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8826e83b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d8826e83b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5bdb8deb3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5bdb8deb3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d5bdb8deb3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d5bdb8deb3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br>
              <a:rPr lang="de"/>
            </a:br>
            <a:r>
              <a:rPr lang="de"/>
              <a:t>Einheitliche Domainsprache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d5bdb8deb3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d5bdb8deb3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d5bdb8deb3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d5bdb8deb3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da74f2a74a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da74f2a74a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Entitys behalten entity und bleiben über ihren lebenszyklus definiert. </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Fehler bei Move. Move ist mutable wird aber als Value Objekt  benutzt. Record wäre der weg gewesen</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d5bdb8deb3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d5bdb8deb3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ddab9bcc3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ddab9bcc3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db9634fdd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db9634fdd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ddab9bcc3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ddab9bcc3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d5bdb8deb3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d5bdb8deb3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1 =&gt; führt zu einfacherem Debuging und allgemein logging der spiel events</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2. =&gt; code erfüllt besser die Dependency rule und Dependency Inversion Prinziple. Außerdem bessere Testbarkeit durch mehr mockklassen. </a:t>
            </a:r>
            <a:br>
              <a:rPr lang="de"/>
            </a:br>
            <a:r>
              <a:rPr lang="de"/>
              <a:t>Code ist flexibler für erweiterungen</a:t>
            </a:r>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d5bdb8deb3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d5bdb8deb3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dc4e17c21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dc4e17c21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endParaRPr/>
          </a:p>
          <a:p>
            <a:pPr indent="0" lvl="0" marL="0" rtl="0" algn="l">
              <a:spcBef>
                <a:spcPts val="0"/>
              </a:spcBef>
              <a:spcAft>
                <a:spcPts val="0"/>
              </a:spcAft>
              <a:buNone/>
            </a:pPr>
            <a:r>
              <a:t/>
            </a:r>
            <a:endParaRPr/>
          </a:p>
          <a:p>
            <a:pPr indent="0" lvl="0" marL="0" rtl="0" algn="l">
              <a:spcBef>
                <a:spcPts val="0"/>
              </a:spcBef>
              <a:spcAft>
                <a:spcPts val="0"/>
              </a:spcAft>
              <a:buNone/>
            </a:pPr>
            <a:r>
              <a:rPr lang="de">
                <a:solidFill>
                  <a:schemeClr val="dk1"/>
                </a:solidFill>
              </a:rPr>
              <a:t>Singleton ist ein Erzeugungsmuster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de"/>
              <a:t>Warum Refactoring → wegen Dependency Rule und zum Nutzen von Dependency Injection</a:t>
            </a:r>
            <a:br>
              <a:rPr lang="de"/>
            </a:b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9a69eab49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9a69eab49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Jannik</a:t>
            </a:r>
            <a:br>
              <a:rPr lang="de"/>
            </a:br>
            <a:r>
              <a:rPr lang="de"/>
              <a:t>Refactor, damit Depency Injection möglich</a:t>
            </a:r>
            <a:br>
              <a:rPr lang="de"/>
            </a:br>
            <a:r>
              <a:rPr lang="de"/>
              <a:t>Depency Injection Container</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d5bdb8deb3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d5bdb8deb3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Devin </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 Observer ist ein Verhaltenmusster =&gt; sorgt für flexible zusammenarbeit zwischen komponenten</a:t>
            </a:r>
            <a:endParaRPr/>
          </a:p>
          <a:p>
            <a:pPr indent="0" lvl="0" marL="0" rtl="0" algn="l">
              <a:spcBef>
                <a:spcPts val="0"/>
              </a:spcBef>
              <a:spcAft>
                <a:spcPts val="0"/>
              </a:spcAft>
              <a:buNone/>
            </a:pPr>
            <a:r>
              <a:rPr lang="de"/>
              <a:t> Zweck Automatische reaktion auf änderungen</a:t>
            </a:r>
            <a:br>
              <a:rPr lang="de"/>
            </a:br>
            <a:br>
              <a:rPr lang="de"/>
            </a:br>
            <a:r>
              <a:rPr lang="de"/>
              <a:t>Grund: geringe kopplung. Dependency rule ansnstten hätte man Polling oder so machen müssen</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d3c082186b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d3c082186b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d5bdb8deb3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d5bdb8deb3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3" name="Google Shape;13;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4" name="Google Shape;14;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9" name="Google Shape;19;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
        <p:nvSpPr>
          <p:cNvPr id="21" name="Google Shape;21;p3"/>
          <p:cNvSpPr txBox="1"/>
          <p:nvPr>
            <p:ph idx="2" type="sldNum"/>
          </p:nvPr>
        </p:nvSpPr>
        <p:spPr>
          <a:xfrm>
            <a:off x="311684" y="4663225"/>
            <a:ext cx="1696500" cy="393600"/>
          </a:xfrm>
          <a:prstGeom prst="rect">
            <a:avLst/>
          </a:prstGeom>
        </p:spPr>
        <p:txBody>
          <a:bodyPr anchorCtr="0" anchor="ctr" bIns="91425" lIns="91425" spcFirstLastPara="1" rIns="91425" wrap="square" tIns="91425">
            <a:normAutofit fontScale="85000" lnSpcReduction="20000"/>
          </a:bodyPr>
          <a:lstStyle>
            <a:lvl1pPr lvl="0">
              <a:buNone/>
              <a:defRPr sz="1000">
                <a:solidFill>
                  <a:schemeClr val="dk1"/>
                </a:solidFill>
                <a:latin typeface="Economica"/>
                <a:ea typeface="Economica"/>
                <a:cs typeface="Economica"/>
                <a:sym typeface="Economica"/>
              </a:defRPr>
            </a:lvl1pPr>
            <a:lvl2pPr lvl="1">
              <a:buNone/>
              <a:defRPr sz="1000">
                <a:solidFill>
                  <a:schemeClr val="dk1"/>
                </a:solidFill>
                <a:latin typeface="Economica"/>
                <a:ea typeface="Economica"/>
                <a:cs typeface="Economica"/>
                <a:sym typeface="Economica"/>
              </a:defRPr>
            </a:lvl2pPr>
            <a:lvl3pPr lvl="2">
              <a:buNone/>
              <a:defRPr sz="1000">
                <a:solidFill>
                  <a:schemeClr val="dk1"/>
                </a:solidFill>
                <a:latin typeface="Economica"/>
                <a:ea typeface="Economica"/>
                <a:cs typeface="Economica"/>
                <a:sym typeface="Economica"/>
              </a:defRPr>
            </a:lvl3pPr>
            <a:lvl4pPr lvl="3">
              <a:buNone/>
              <a:defRPr sz="1000">
                <a:solidFill>
                  <a:schemeClr val="dk1"/>
                </a:solidFill>
                <a:latin typeface="Economica"/>
                <a:ea typeface="Economica"/>
                <a:cs typeface="Economica"/>
                <a:sym typeface="Economica"/>
              </a:defRPr>
            </a:lvl4pPr>
            <a:lvl5pPr lvl="4">
              <a:buNone/>
              <a:defRPr sz="1000">
                <a:solidFill>
                  <a:schemeClr val="dk1"/>
                </a:solidFill>
                <a:latin typeface="Economica"/>
                <a:ea typeface="Economica"/>
                <a:cs typeface="Economica"/>
                <a:sym typeface="Economica"/>
              </a:defRPr>
            </a:lvl5pPr>
            <a:lvl6pPr lvl="5">
              <a:buNone/>
              <a:defRPr sz="1000">
                <a:solidFill>
                  <a:schemeClr val="dk1"/>
                </a:solidFill>
                <a:latin typeface="Economica"/>
                <a:ea typeface="Economica"/>
                <a:cs typeface="Economica"/>
                <a:sym typeface="Economica"/>
              </a:defRPr>
            </a:lvl6pPr>
            <a:lvl7pPr lvl="6">
              <a:buNone/>
              <a:defRPr sz="1000">
                <a:solidFill>
                  <a:schemeClr val="dk1"/>
                </a:solidFill>
                <a:latin typeface="Economica"/>
                <a:ea typeface="Economica"/>
                <a:cs typeface="Economica"/>
                <a:sym typeface="Economica"/>
              </a:defRPr>
            </a:lvl7pPr>
            <a:lvl8pPr lvl="7">
              <a:buNone/>
              <a:defRPr sz="1000">
                <a:solidFill>
                  <a:schemeClr val="dk1"/>
                </a:solidFill>
                <a:latin typeface="Economica"/>
                <a:ea typeface="Economica"/>
                <a:cs typeface="Economica"/>
                <a:sym typeface="Economica"/>
              </a:defRPr>
            </a:lvl8pPr>
            <a:lvl9pPr lvl="8">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5" name="Google Shape;25;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
        <p:nvSpPr>
          <p:cNvPr id="27" name="Google Shape;27;p4"/>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lvl1pPr lvl="0">
              <a:buNone/>
              <a:defRPr sz="1000">
                <a:solidFill>
                  <a:schemeClr val="dk1"/>
                </a:solidFill>
                <a:latin typeface="Economica"/>
                <a:ea typeface="Economica"/>
                <a:cs typeface="Economica"/>
                <a:sym typeface="Economica"/>
              </a:defRPr>
            </a:lvl1pPr>
            <a:lvl2pPr lvl="1">
              <a:buNone/>
              <a:defRPr sz="1000">
                <a:solidFill>
                  <a:schemeClr val="dk1"/>
                </a:solidFill>
                <a:latin typeface="Economica"/>
                <a:ea typeface="Economica"/>
                <a:cs typeface="Economica"/>
                <a:sym typeface="Economica"/>
              </a:defRPr>
            </a:lvl2pPr>
            <a:lvl3pPr lvl="2">
              <a:buNone/>
              <a:defRPr sz="1000">
                <a:solidFill>
                  <a:schemeClr val="dk1"/>
                </a:solidFill>
                <a:latin typeface="Economica"/>
                <a:ea typeface="Economica"/>
                <a:cs typeface="Economica"/>
                <a:sym typeface="Economica"/>
              </a:defRPr>
            </a:lvl3pPr>
            <a:lvl4pPr lvl="3">
              <a:buNone/>
              <a:defRPr sz="1000">
                <a:solidFill>
                  <a:schemeClr val="dk1"/>
                </a:solidFill>
                <a:latin typeface="Economica"/>
                <a:ea typeface="Economica"/>
                <a:cs typeface="Economica"/>
                <a:sym typeface="Economica"/>
              </a:defRPr>
            </a:lvl4pPr>
            <a:lvl5pPr lvl="4">
              <a:buNone/>
              <a:defRPr sz="1000">
                <a:solidFill>
                  <a:schemeClr val="dk1"/>
                </a:solidFill>
                <a:latin typeface="Economica"/>
                <a:ea typeface="Economica"/>
                <a:cs typeface="Economica"/>
                <a:sym typeface="Economica"/>
              </a:defRPr>
            </a:lvl5pPr>
            <a:lvl6pPr lvl="5">
              <a:buNone/>
              <a:defRPr sz="1000">
                <a:solidFill>
                  <a:schemeClr val="dk1"/>
                </a:solidFill>
                <a:latin typeface="Economica"/>
                <a:ea typeface="Economica"/>
                <a:cs typeface="Economica"/>
                <a:sym typeface="Economica"/>
              </a:defRPr>
            </a:lvl6pPr>
            <a:lvl7pPr lvl="6">
              <a:buNone/>
              <a:defRPr sz="1000">
                <a:solidFill>
                  <a:schemeClr val="dk1"/>
                </a:solidFill>
                <a:latin typeface="Economica"/>
                <a:ea typeface="Economica"/>
                <a:cs typeface="Economica"/>
                <a:sym typeface="Economica"/>
              </a:defRPr>
            </a:lvl7pPr>
            <a:lvl8pPr lvl="7">
              <a:buNone/>
              <a:defRPr sz="1000">
                <a:solidFill>
                  <a:schemeClr val="dk1"/>
                </a:solidFill>
                <a:latin typeface="Economica"/>
                <a:ea typeface="Economica"/>
                <a:cs typeface="Economica"/>
                <a:sym typeface="Economica"/>
              </a:defRPr>
            </a:lvl8pPr>
            <a:lvl9pPr lvl="8">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0" name="Google Shape;30;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
        <p:nvSpPr>
          <p:cNvPr id="33" name="Google Shape;33;p5"/>
          <p:cNvSpPr txBox="1"/>
          <p:nvPr>
            <p:ph idx="3" type="sldNum"/>
          </p:nvPr>
        </p:nvSpPr>
        <p:spPr>
          <a:xfrm>
            <a:off x="311709" y="4657225"/>
            <a:ext cx="1696500" cy="393600"/>
          </a:xfrm>
          <a:prstGeom prst="rect">
            <a:avLst/>
          </a:prstGeom>
        </p:spPr>
        <p:txBody>
          <a:bodyPr anchorCtr="0" anchor="ctr" bIns="91425" lIns="91425" spcFirstLastPara="1" rIns="91425" wrap="square" tIns="91425">
            <a:normAutofit fontScale="85000" lnSpcReduction="20000"/>
          </a:bodyPr>
          <a:lstStyle>
            <a:lvl1pPr lvl="0">
              <a:buNone/>
              <a:defRPr sz="1000">
                <a:solidFill>
                  <a:schemeClr val="dk1"/>
                </a:solidFill>
                <a:latin typeface="Economica"/>
                <a:ea typeface="Economica"/>
                <a:cs typeface="Economica"/>
                <a:sym typeface="Economica"/>
              </a:defRPr>
            </a:lvl1pPr>
            <a:lvl2pPr lvl="1">
              <a:buNone/>
              <a:defRPr sz="1000">
                <a:solidFill>
                  <a:schemeClr val="dk1"/>
                </a:solidFill>
                <a:latin typeface="Economica"/>
                <a:ea typeface="Economica"/>
                <a:cs typeface="Economica"/>
                <a:sym typeface="Economica"/>
              </a:defRPr>
            </a:lvl2pPr>
            <a:lvl3pPr lvl="2">
              <a:buNone/>
              <a:defRPr sz="1000">
                <a:solidFill>
                  <a:schemeClr val="dk1"/>
                </a:solidFill>
                <a:latin typeface="Economica"/>
                <a:ea typeface="Economica"/>
                <a:cs typeface="Economica"/>
                <a:sym typeface="Economica"/>
              </a:defRPr>
            </a:lvl3pPr>
            <a:lvl4pPr lvl="3">
              <a:buNone/>
              <a:defRPr sz="1000">
                <a:solidFill>
                  <a:schemeClr val="dk1"/>
                </a:solidFill>
                <a:latin typeface="Economica"/>
                <a:ea typeface="Economica"/>
                <a:cs typeface="Economica"/>
                <a:sym typeface="Economica"/>
              </a:defRPr>
            </a:lvl4pPr>
            <a:lvl5pPr lvl="4">
              <a:buNone/>
              <a:defRPr sz="1000">
                <a:solidFill>
                  <a:schemeClr val="dk1"/>
                </a:solidFill>
                <a:latin typeface="Economica"/>
                <a:ea typeface="Economica"/>
                <a:cs typeface="Economica"/>
                <a:sym typeface="Economica"/>
              </a:defRPr>
            </a:lvl5pPr>
            <a:lvl6pPr lvl="5">
              <a:buNone/>
              <a:defRPr sz="1000">
                <a:solidFill>
                  <a:schemeClr val="dk1"/>
                </a:solidFill>
                <a:latin typeface="Economica"/>
                <a:ea typeface="Economica"/>
                <a:cs typeface="Economica"/>
                <a:sym typeface="Economica"/>
              </a:defRPr>
            </a:lvl6pPr>
            <a:lvl7pPr lvl="6">
              <a:buNone/>
              <a:defRPr sz="1000">
                <a:solidFill>
                  <a:schemeClr val="dk1"/>
                </a:solidFill>
                <a:latin typeface="Economica"/>
                <a:ea typeface="Economica"/>
                <a:cs typeface="Economica"/>
                <a:sym typeface="Economica"/>
              </a:defRPr>
            </a:lvl7pPr>
            <a:lvl8pPr lvl="7">
              <a:buNone/>
              <a:defRPr sz="1000">
                <a:solidFill>
                  <a:schemeClr val="dk1"/>
                </a:solidFill>
                <a:latin typeface="Economica"/>
                <a:ea typeface="Economica"/>
                <a:cs typeface="Economica"/>
                <a:sym typeface="Economica"/>
              </a:defRPr>
            </a:lvl8pPr>
            <a:lvl9pPr lvl="8">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
        <p:nvSpPr>
          <p:cNvPr id="37" name="Google Shape;37;p6"/>
          <p:cNvSpPr txBox="1"/>
          <p:nvPr>
            <p:ph idx="2" type="sldNum"/>
          </p:nvPr>
        </p:nvSpPr>
        <p:spPr>
          <a:xfrm>
            <a:off x="311709" y="4663225"/>
            <a:ext cx="1696500" cy="393600"/>
          </a:xfrm>
          <a:prstGeom prst="rect">
            <a:avLst/>
          </a:prstGeom>
        </p:spPr>
        <p:txBody>
          <a:bodyPr anchorCtr="0" anchor="ctr" bIns="91425" lIns="91425" spcFirstLastPara="1" rIns="91425" wrap="square" tIns="91425">
            <a:normAutofit fontScale="85000" lnSpcReduction="20000"/>
          </a:bodyPr>
          <a:lstStyle>
            <a:lvl1pPr lvl="0">
              <a:buNone/>
              <a:defRPr sz="1000">
                <a:solidFill>
                  <a:schemeClr val="dk1"/>
                </a:solidFill>
                <a:latin typeface="Economica"/>
                <a:ea typeface="Economica"/>
                <a:cs typeface="Economica"/>
                <a:sym typeface="Economica"/>
              </a:defRPr>
            </a:lvl1pPr>
            <a:lvl2pPr lvl="1">
              <a:buNone/>
              <a:defRPr sz="1000">
                <a:solidFill>
                  <a:schemeClr val="dk1"/>
                </a:solidFill>
                <a:latin typeface="Economica"/>
                <a:ea typeface="Economica"/>
                <a:cs typeface="Economica"/>
                <a:sym typeface="Economica"/>
              </a:defRPr>
            </a:lvl2pPr>
            <a:lvl3pPr lvl="2">
              <a:buNone/>
              <a:defRPr sz="1000">
                <a:solidFill>
                  <a:schemeClr val="dk1"/>
                </a:solidFill>
                <a:latin typeface="Economica"/>
                <a:ea typeface="Economica"/>
                <a:cs typeface="Economica"/>
                <a:sym typeface="Economica"/>
              </a:defRPr>
            </a:lvl3pPr>
            <a:lvl4pPr lvl="3">
              <a:buNone/>
              <a:defRPr sz="1000">
                <a:solidFill>
                  <a:schemeClr val="dk1"/>
                </a:solidFill>
                <a:latin typeface="Economica"/>
                <a:ea typeface="Economica"/>
                <a:cs typeface="Economica"/>
                <a:sym typeface="Economica"/>
              </a:defRPr>
            </a:lvl4pPr>
            <a:lvl5pPr lvl="4">
              <a:buNone/>
              <a:defRPr sz="1000">
                <a:solidFill>
                  <a:schemeClr val="dk1"/>
                </a:solidFill>
                <a:latin typeface="Economica"/>
                <a:ea typeface="Economica"/>
                <a:cs typeface="Economica"/>
                <a:sym typeface="Economica"/>
              </a:defRPr>
            </a:lvl5pPr>
            <a:lvl6pPr lvl="5">
              <a:buNone/>
              <a:defRPr sz="1000">
                <a:solidFill>
                  <a:schemeClr val="dk1"/>
                </a:solidFill>
                <a:latin typeface="Economica"/>
                <a:ea typeface="Economica"/>
                <a:cs typeface="Economica"/>
                <a:sym typeface="Economica"/>
              </a:defRPr>
            </a:lvl6pPr>
            <a:lvl7pPr lvl="6">
              <a:buNone/>
              <a:defRPr sz="1000">
                <a:solidFill>
                  <a:schemeClr val="dk1"/>
                </a:solidFill>
                <a:latin typeface="Economica"/>
                <a:ea typeface="Economica"/>
                <a:cs typeface="Economica"/>
                <a:sym typeface="Economica"/>
              </a:defRPr>
            </a:lvl7pPr>
            <a:lvl8pPr lvl="7">
              <a:buNone/>
              <a:defRPr sz="1000">
                <a:solidFill>
                  <a:schemeClr val="dk1"/>
                </a:solidFill>
                <a:latin typeface="Economica"/>
                <a:ea typeface="Economica"/>
                <a:cs typeface="Economica"/>
                <a:sym typeface="Economica"/>
              </a:defRPr>
            </a:lvl8pPr>
            <a:lvl9pPr lvl="8">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 name="Google Shape;40;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
        <p:nvSpPr>
          <p:cNvPr id="42" name="Google Shape;42;p7"/>
          <p:cNvSpPr txBox="1"/>
          <p:nvPr>
            <p:ph idx="2" type="sldNum"/>
          </p:nvPr>
        </p:nvSpPr>
        <p:spPr>
          <a:xfrm>
            <a:off x="311709" y="4663225"/>
            <a:ext cx="1696500" cy="393600"/>
          </a:xfrm>
          <a:prstGeom prst="rect">
            <a:avLst/>
          </a:prstGeom>
        </p:spPr>
        <p:txBody>
          <a:bodyPr anchorCtr="0" anchor="ctr" bIns="91425" lIns="91425" spcFirstLastPara="1" rIns="91425" wrap="square" tIns="91425">
            <a:normAutofit fontScale="85000" lnSpcReduction="20000"/>
          </a:bodyPr>
          <a:lstStyle>
            <a:lvl1pPr lvl="0">
              <a:buNone/>
              <a:defRPr sz="1000">
                <a:solidFill>
                  <a:schemeClr val="dk1"/>
                </a:solidFill>
                <a:latin typeface="Economica"/>
                <a:ea typeface="Economica"/>
                <a:cs typeface="Economica"/>
                <a:sym typeface="Economica"/>
              </a:defRPr>
            </a:lvl1pPr>
            <a:lvl2pPr lvl="1">
              <a:buNone/>
              <a:defRPr sz="1000">
                <a:solidFill>
                  <a:schemeClr val="dk1"/>
                </a:solidFill>
                <a:latin typeface="Economica"/>
                <a:ea typeface="Economica"/>
                <a:cs typeface="Economica"/>
                <a:sym typeface="Economica"/>
              </a:defRPr>
            </a:lvl2pPr>
            <a:lvl3pPr lvl="2">
              <a:buNone/>
              <a:defRPr sz="1000">
                <a:solidFill>
                  <a:schemeClr val="dk1"/>
                </a:solidFill>
                <a:latin typeface="Economica"/>
                <a:ea typeface="Economica"/>
                <a:cs typeface="Economica"/>
                <a:sym typeface="Economica"/>
              </a:defRPr>
            </a:lvl3pPr>
            <a:lvl4pPr lvl="3">
              <a:buNone/>
              <a:defRPr sz="1000">
                <a:solidFill>
                  <a:schemeClr val="dk1"/>
                </a:solidFill>
                <a:latin typeface="Economica"/>
                <a:ea typeface="Economica"/>
                <a:cs typeface="Economica"/>
                <a:sym typeface="Economica"/>
              </a:defRPr>
            </a:lvl4pPr>
            <a:lvl5pPr lvl="4">
              <a:buNone/>
              <a:defRPr sz="1000">
                <a:solidFill>
                  <a:schemeClr val="dk1"/>
                </a:solidFill>
                <a:latin typeface="Economica"/>
                <a:ea typeface="Economica"/>
                <a:cs typeface="Economica"/>
                <a:sym typeface="Economica"/>
              </a:defRPr>
            </a:lvl5pPr>
            <a:lvl6pPr lvl="5">
              <a:buNone/>
              <a:defRPr sz="1000">
                <a:solidFill>
                  <a:schemeClr val="dk1"/>
                </a:solidFill>
                <a:latin typeface="Economica"/>
                <a:ea typeface="Economica"/>
                <a:cs typeface="Economica"/>
                <a:sym typeface="Economica"/>
              </a:defRPr>
            </a:lvl6pPr>
            <a:lvl7pPr lvl="6">
              <a:buNone/>
              <a:defRPr sz="1000">
                <a:solidFill>
                  <a:schemeClr val="dk1"/>
                </a:solidFill>
                <a:latin typeface="Economica"/>
                <a:ea typeface="Economica"/>
                <a:cs typeface="Economica"/>
                <a:sym typeface="Economica"/>
              </a:defRPr>
            </a:lvl7pPr>
            <a:lvl8pPr lvl="7">
              <a:buNone/>
              <a:defRPr sz="1000">
                <a:solidFill>
                  <a:schemeClr val="dk1"/>
                </a:solidFill>
                <a:latin typeface="Economica"/>
                <a:ea typeface="Economica"/>
                <a:cs typeface="Economica"/>
                <a:sym typeface="Economica"/>
              </a:defRPr>
            </a:lvl8pPr>
            <a:lvl9pPr lvl="8">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
        <p:nvSpPr>
          <p:cNvPr id="47" name="Google Shape;47;p8"/>
          <p:cNvSpPr txBox="1"/>
          <p:nvPr>
            <p:ph idx="2" type="sldNum"/>
          </p:nvPr>
        </p:nvSpPr>
        <p:spPr>
          <a:xfrm>
            <a:off x="295809" y="4596525"/>
            <a:ext cx="1696500" cy="393600"/>
          </a:xfrm>
          <a:prstGeom prst="rect">
            <a:avLst/>
          </a:prstGeom>
        </p:spPr>
        <p:txBody>
          <a:bodyPr anchorCtr="0" anchor="ctr" bIns="91425" lIns="91425" spcFirstLastPara="1" rIns="91425" wrap="square" tIns="91425">
            <a:normAutofit fontScale="85000" lnSpcReduction="20000"/>
          </a:bodyPr>
          <a:lstStyle>
            <a:lvl1pPr lvl="0">
              <a:buNone/>
              <a:defRPr sz="1000">
                <a:solidFill>
                  <a:schemeClr val="dk1"/>
                </a:solidFill>
                <a:latin typeface="Economica"/>
                <a:ea typeface="Economica"/>
                <a:cs typeface="Economica"/>
                <a:sym typeface="Economica"/>
              </a:defRPr>
            </a:lvl1pPr>
            <a:lvl2pPr lvl="1">
              <a:buNone/>
              <a:defRPr sz="1000">
                <a:solidFill>
                  <a:schemeClr val="dk1"/>
                </a:solidFill>
                <a:latin typeface="Economica"/>
                <a:ea typeface="Economica"/>
                <a:cs typeface="Economica"/>
                <a:sym typeface="Economica"/>
              </a:defRPr>
            </a:lvl2pPr>
            <a:lvl3pPr lvl="2">
              <a:buNone/>
              <a:defRPr sz="1000">
                <a:solidFill>
                  <a:schemeClr val="dk1"/>
                </a:solidFill>
                <a:latin typeface="Economica"/>
                <a:ea typeface="Economica"/>
                <a:cs typeface="Economica"/>
                <a:sym typeface="Economica"/>
              </a:defRPr>
            </a:lvl3pPr>
            <a:lvl4pPr lvl="3">
              <a:buNone/>
              <a:defRPr sz="1000">
                <a:solidFill>
                  <a:schemeClr val="dk1"/>
                </a:solidFill>
                <a:latin typeface="Economica"/>
                <a:ea typeface="Economica"/>
                <a:cs typeface="Economica"/>
                <a:sym typeface="Economica"/>
              </a:defRPr>
            </a:lvl4pPr>
            <a:lvl5pPr lvl="4">
              <a:buNone/>
              <a:defRPr sz="1000">
                <a:solidFill>
                  <a:schemeClr val="dk1"/>
                </a:solidFill>
                <a:latin typeface="Economica"/>
                <a:ea typeface="Economica"/>
                <a:cs typeface="Economica"/>
                <a:sym typeface="Economica"/>
              </a:defRPr>
            </a:lvl5pPr>
            <a:lvl6pPr lvl="5">
              <a:buNone/>
              <a:defRPr sz="1000">
                <a:solidFill>
                  <a:schemeClr val="dk1"/>
                </a:solidFill>
                <a:latin typeface="Economica"/>
                <a:ea typeface="Economica"/>
                <a:cs typeface="Economica"/>
                <a:sym typeface="Economica"/>
              </a:defRPr>
            </a:lvl6pPr>
            <a:lvl7pPr lvl="6">
              <a:buNone/>
              <a:defRPr sz="1000">
                <a:solidFill>
                  <a:schemeClr val="dk1"/>
                </a:solidFill>
                <a:latin typeface="Economica"/>
                <a:ea typeface="Economica"/>
                <a:cs typeface="Economica"/>
                <a:sym typeface="Economica"/>
              </a:defRPr>
            </a:lvl7pPr>
            <a:lvl8pPr lvl="7">
              <a:buNone/>
              <a:defRPr sz="1000">
                <a:solidFill>
                  <a:schemeClr val="dk1"/>
                </a:solidFill>
                <a:latin typeface="Economica"/>
                <a:ea typeface="Economica"/>
                <a:cs typeface="Economica"/>
                <a:sym typeface="Economica"/>
              </a:defRPr>
            </a:lvl8pPr>
            <a:lvl9pPr lvl="8">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52" name="Google Shape;52;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
        <p:nvSpPr>
          <p:cNvPr id="55" name="Google Shape;55;p9"/>
          <p:cNvSpPr txBox="1"/>
          <p:nvPr>
            <p:ph idx="3" type="sldNum"/>
          </p:nvPr>
        </p:nvSpPr>
        <p:spPr>
          <a:xfrm>
            <a:off x="265509" y="4663225"/>
            <a:ext cx="1696500" cy="393600"/>
          </a:xfrm>
          <a:prstGeom prst="rect">
            <a:avLst/>
          </a:prstGeom>
        </p:spPr>
        <p:txBody>
          <a:bodyPr anchorCtr="0" anchor="ctr" bIns="91425" lIns="91425" spcFirstLastPara="1" rIns="91425" wrap="square" tIns="91425">
            <a:normAutofit fontScale="85000" lnSpcReduction="20000"/>
          </a:bodyPr>
          <a:lstStyle>
            <a:lvl1pPr lvl="0">
              <a:buNone/>
              <a:defRPr sz="1000">
                <a:solidFill>
                  <a:schemeClr val="dk1"/>
                </a:solidFill>
                <a:latin typeface="Economica"/>
                <a:ea typeface="Economica"/>
                <a:cs typeface="Economica"/>
                <a:sym typeface="Economica"/>
              </a:defRPr>
            </a:lvl1pPr>
            <a:lvl2pPr lvl="1">
              <a:buNone/>
              <a:defRPr sz="1000">
                <a:solidFill>
                  <a:schemeClr val="dk1"/>
                </a:solidFill>
                <a:latin typeface="Economica"/>
                <a:ea typeface="Economica"/>
                <a:cs typeface="Economica"/>
                <a:sym typeface="Economica"/>
              </a:defRPr>
            </a:lvl2pPr>
            <a:lvl3pPr lvl="2">
              <a:buNone/>
              <a:defRPr sz="1000">
                <a:solidFill>
                  <a:schemeClr val="dk1"/>
                </a:solidFill>
                <a:latin typeface="Economica"/>
                <a:ea typeface="Economica"/>
                <a:cs typeface="Economica"/>
                <a:sym typeface="Economica"/>
              </a:defRPr>
            </a:lvl3pPr>
            <a:lvl4pPr lvl="3">
              <a:buNone/>
              <a:defRPr sz="1000">
                <a:solidFill>
                  <a:schemeClr val="dk1"/>
                </a:solidFill>
                <a:latin typeface="Economica"/>
                <a:ea typeface="Economica"/>
                <a:cs typeface="Economica"/>
                <a:sym typeface="Economica"/>
              </a:defRPr>
            </a:lvl4pPr>
            <a:lvl5pPr lvl="4">
              <a:buNone/>
              <a:defRPr sz="1000">
                <a:solidFill>
                  <a:schemeClr val="dk1"/>
                </a:solidFill>
                <a:latin typeface="Economica"/>
                <a:ea typeface="Economica"/>
                <a:cs typeface="Economica"/>
                <a:sym typeface="Economica"/>
              </a:defRPr>
            </a:lvl5pPr>
            <a:lvl6pPr lvl="5">
              <a:buNone/>
              <a:defRPr sz="1000">
                <a:solidFill>
                  <a:schemeClr val="dk1"/>
                </a:solidFill>
                <a:latin typeface="Economica"/>
                <a:ea typeface="Economica"/>
                <a:cs typeface="Economica"/>
                <a:sym typeface="Economica"/>
              </a:defRPr>
            </a:lvl6pPr>
            <a:lvl7pPr lvl="6">
              <a:buNone/>
              <a:defRPr sz="1000">
                <a:solidFill>
                  <a:schemeClr val="dk1"/>
                </a:solidFill>
                <a:latin typeface="Economica"/>
                <a:ea typeface="Economica"/>
                <a:cs typeface="Economica"/>
                <a:sym typeface="Economica"/>
              </a:defRPr>
            </a:lvl7pPr>
            <a:lvl8pPr lvl="7">
              <a:buNone/>
              <a:defRPr sz="1000">
                <a:solidFill>
                  <a:schemeClr val="dk1"/>
                </a:solidFill>
                <a:latin typeface="Economica"/>
                <a:ea typeface="Economica"/>
                <a:cs typeface="Economica"/>
                <a:sym typeface="Economica"/>
              </a:defRPr>
            </a:lvl8pPr>
            <a:lvl9pPr lvl="8">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
        <p:nvSpPr>
          <p:cNvPr id="59" name="Google Shape;59;p10"/>
          <p:cNvSpPr txBox="1"/>
          <p:nvPr>
            <p:ph idx="2" type="sldNum"/>
          </p:nvPr>
        </p:nvSpPr>
        <p:spPr>
          <a:xfrm>
            <a:off x="319509" y="4663225"/>
            <a:ext cx="1696500" cy="393600"/>
          </a:xfrm>
          <a:prstGeom prst="rect">
            <a:avLst/>
          </a:prstGeom>
        </p:spPr>
        <p:txBody>
          <a:bodyPr anchorCtr="0" anchor="ctr" bIns="91425" lIns="91425" spcFirstLastPara="1" rIns="91425" wrap="square" tIns="91425">
            <a:normAutofit fontScale="85000" lnSpcReduction="20000"/>
          </a:bodyPr>
          <a:lstStyle>
            <a:lvl1pPr lvl="0">
              <a:buNone/>
              <a:defRPr sz="1000">
                <a:solidFill>
                  <a:schemeClr val="dk1"/>
                </a:solidFill>
                <a:latin typeface="Economica"/>
                <a:ea typeface="Economica"/>
                <a:cs typeface="Economica"/>
                <a:sym typeface="Economica"/>
              </a:defRPr>
            </a:lvl1pPr>
            <a:lvl2pPr lvl="1">
              <a:buNone/>
              <a:defRPr sz="1000">
                <a:solidFill>
                  <a:schemeClr val="dk1"/>
                </a:solidFill>
                <a:latin typeface="Economica"/>
                <a:ea typeface="Economica"/>
                <a:cs typeface="Economica"/>
                <a:sym typeface="Economica"/>
              </a:defRPr>
            </a:lvl2pPr>
            <a:lvl3pPr lvl="2">
              <a:buNone/>
              <a:defRPr sz="1000">
                <a:solidFill>
                  <a:schemeClr val="dk1"/>
                </a:solidFill>
                <a:latin typeface="Economica"/>
                <a:ea typeface="Economica"/>
                <a:cs typeface="Economica"/>
                <a:sym typeface="Economica"/>
              </a:defRPr>
            </a:lvl3pPr>
            <a:lvl4pPr lvl="3">
              <a:buNone/>
              <a:defRPr sz="1000">
                <a:solidFill>
                  <a:schemeClr val="dk1"/>
                </a:solidFill>
                <a:latin typeface="Economica"/>
                <a:ea typeface="Economica"/>
                <a:cs typeface="Economica"/>
                <a:sym typeface="Economica"/>
              </a:defRPr>
            </a:lvl4pPr>
            <a:lvl5pPr lvl="4">
              <a:buNone/>
              <a:defRPr sz="1000">
                <a:solidFill>
                  <a:schemeClr val="dk1"/>
                </a:solidFill>
                <a:latin typeface="Economica"/>
                <a:ea typeface="Economica"/>
                <a:cs typeface="Economica"/>
                <a:sym typeface="Economica"/>
              </a:defRPr>
            </a:lvl5pPr>
            <a:lvl6pPr lvl="5">
              <a:buNone/>
              <a:defRPr sz="1000">
                <a:solidFill>
                  <a:schemeClr val="dk1"/>
                </a:solidFill>
                <a:latin typeface="Economica"/>
                <a:ea typeface="Economica"/>
                <a:cs typeface="Economica"/>
                <a:sym typeface="Economica"/>
              </a:defRPr>
            </a:lvl6pPr>
            <a:lvl7pPr lvl="6">
              <a:buNone/>
              <a:defRPr sz="1000">
                <a:solidFill>
                  <a:schemeClr val="dk1"/>
                </a:solidFill>
                <a:latin typeface="Economica"/>
                <a:ea typeface="Economica"/>
                <a:cs typeface="Economica"/>
                <a:sym typeface="Economica"/>
              </a:defRPr>
            </a:lvl7pPr>
            <a:lvl8pPr lvl="7">
              <a:buNone/>
              <a:defRPr sz="1000">
                <a:solidFill>
                  <a:schemeClr val="dk1"/>
                </a:solidFill>
                <a:latin typeface="Economica"/>
                <a:ea typeface="Economica"/>
                <a:cs typeface="Economica"/>
                <a:sym typeface="Economica"/>
              </a:defRPr>
            </a:lvl8pPr>
            <a:lvl9pPr lvl="8">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63" name="Google Shape;63;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
        <p:nvSpPr>
          <p:cNvPr id="65" name="Google Shape;65;p11"/>
          <p:cNvSpPr txBox="1"/>
          <p:nvPr>
            <p:ph idx="2" type="sldNum"/>
          </p:nvPr>
        </p:nvSpPr>
        <p:spPr>
          <a:xfrm>
            <a:off x="311709" y="4663225"/>
            <a:ext cx="1696500" cy="393600"/>
          </a:xfrm>
          <a:prstGeom prst="rect">
            <a:avLst/>
          </a:prstGeom>
        </p:spPr>
        <p:txBody>
          <a:bodyPr anchorCtr="0" anchor="ctr" bIns="91425" lIns="91425" spcFirstLastPara="1" rIns="91425" wrap="square" tIns="91425">
            <a:normAutofit fontScale="85000" lnSpcReduction="20000"/>
          </a:bodyPr>
          <a:lstStyle>
            <a:lvl1pPr lvl="0">
              <a:buNone/>
              <a:defRPr sz="1000">
                <a:solidFill>
                  <a:schemeClr val="dk1"/>
                </a:solidFill>
                <a:latin typeface="Economica"/>
                <a:ea typeface="Economica"/>
                <a:cs typeface="Economica"/>
                <a:sym typeface="Economica"/>
              </a:defRPr>
            </a:lvl1pPr>
            <a:lvl2pPr lvl="1">
              <a:buNone/>
              <a:defRPr sz="1000">
                <a:solidFill>
                  <a:schemeClr val="dk1"/>
                </a:solidFill>
                <a:latin typeface="Economica"/>
                <a:ea typeface="Economica"/>
                <a:cs typeface="Economica"/>
                <a:sym typeface="Economica"/>
              </a:defRPr>
            </a:lvl2pPr>
            <a:lvl3pPr lvl="2">
              <a:buNone/>
              <a:defRPr sz="1000">
                <a:solidFill>
                  <a:schemeClr val="dk1"/>
                </a:solidFill>
                <a:latin typeface="Economica"/>
                <a:ea typeface="Economica"/>
                <a:cs typeface="Economica"/>
                <a:sym typeface="Economica"/>
              </a:defRPr>
            </a:lvl3pPr>
            <a:lvl4pPr lvl="3">
              <a:buNone/>
              <a:defRPr sz="1000">
                <a:solidFill>
                  <a:schemeClr val="dk1"/>
                </a:solidFill>
                <a:latin typeface="Economica"/>
                <a:ea typeface="Economica"/>
                <a:cs typeface="Economica"/>
                <a:sym typeface="Economica"/>
              </a:defRPr>
            </a:lvl4pPr>
            <a:lvl5pPr lvl="4">
              <a:buNone/>
              <a:defRPr sz="1000">
                <a:solidFill>
                  <a:schemeClr val="dk1"/>
                </a:solidFill>
                <a:latin typeface="Economica"/>
                <a:ea typeface="Economica"/>
                <a:cs typeface="Economica"/>
                <a:sym typeface="Economica"/>
              </a:defRPr>
            </a:lvl5pPr>
            <a:lvl6pPr lvl="5">
              <a:buNone/>
              <a:defRPr sz="1000">
                <a:solidFill>
                  <a:schemeClr val="dk1"/>
                </a:solidFill>
                <a:latin typeface="Economica"/>
                <a:ea typeface="Economica"/>
                <a:cs typeface="Economica"/>
                <a:sym typeface="Economica"/>
              </a:defRPr>
            </a:lvl6pPr>
            <a:lvl7pPr lvl="6">
              <a:buNone/>
              <a:defRPr sz="1000">
                <a:solidFill>
                  <a:schemeClr val="dk1"/>
                </a:solidFill>
                <a:latin typeface="Economica"/>
                <a:ea typeface="Economica"/>
                <a:cs typeface="Economica"/>
                <a:sym typeface="Economica"/>
              </a:defRPr>
            </a:lvl7pPr>
            <a:lvl8pPr lvl="7">
              <a:buNone/>
              <a:defRPr sz="1000">
                <a:solidFill>
                  <a:schemeClr val="dk1"/>
                </a:solidFill>
                <a:latin typeface="Economica"/>
                <a:ea typeface="Economica"/>
                <a:cs typeface="Economica"/>
                <a:sym typeface="Economica"/>
              </a:defRPr>
            </a:lvl8pPr>
            <a:lvl9pPr lvl="8">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de"/>
              <a:t>‹#›</a:t>
            </a:fld>
            <a:endParaRPr/>
          </a:p>
        </p:txBody>
      </p:sp>
      <p:sp>
        <p:nvSpPr>
          <p:cNvPr id="9" name="Google Shape;9;p1"/>
          <p:cNvSpPr txBox="1"/>
          <p:nvPr>
            <p:ph idx="2" type="sldNum"/>
          </p:nvPr>
        </p:nvSpPr>
        <p:spPr>
          <a:xfrm>
            <a:off x="311684" y="4579225"/>
            <a:ext cx="1696500" cy="393600"/>
          </a:xfrm>
          <a:prstGeom prst="rect">
            <a:avLst/>
          </a:prstGeom>
          <a:noFill/>
          <a:ln>
            <a:noFill/>
          </a:ln>
        </p:spPr>
        <p:txBody>
          <a:bodyPr anchorCtr="0" anchor="ctr" bIns="91425" lIns="91425" spcFirstLastPara="1" rIns="91425" wrap="square" tIns="91425">
            <a:normAutofit fontScale="85000" lnSpcReduction="20000"/>
          </a:bodyPr>
          <a:lstStyle>
            <a:lvl1pPr lvl="0" rtl="0">
              <a:buNone/>
              <a:defRPr sz="1000">
                <a:solidFill>
                  <a:schemeClr val="dk1"/>
                </a:solidFill>
                <a:latin typeface="Economica"/>
                <a:ea typeface="Economica"/>
                <a:cs typeface="Economica"/>
                <a:sym typeface="Economica"/>
              </a:defRPr>
            </a:lvl1pPr>
            <a:lvl2pPr lvl="1" rtl="0">
              <a:buNone/>
              <a:defRPr sz="1000">
                <a:solidFill>
                  <a:schemeClr val="dk1"/>
                </a:solidFill>
                <a:latin typeface="Economica"/>
                <a:ea typeface="Economica"/>
                <a:cs typeface="Economica"/>
                <a:sym typeface="Economica"/>
              </a:defRPr>
            </a:lvl2pPr>
            <a:lvl3pPr lvl="2" rtl="0">
              <a:buNone/>
              <a:defRPr sz="1000">
                <a:solidFill>
                  <a:schemeClr val="dk1"/>
                </a:solidFill>
                <a:latin typeface="Economica"/>
                <a:ea typeface="Economica"/>
                <a:cs typeface="Economica"/>
                <a:sym typeface="Economica"/>
              </a:defRPr>
            </a:lvl3pPr>
            <a:lvl4pPr lvl="3" rtl="0">
              <a:buNone/>
              <a:defRPr sz="1000">
                <a:solidFill>
                  <a:schemeClr val="dk1"/>
                </a:solidFill>
                <a:latin typeface="Economica"/>
                <a:ea typeface="Economica"/>
                <a:cs typeface="Economica"/>
                <a:sym typeface="Economica"/>
              </a:defRPr>
            </a:lvl4pPr>
            <a:lvl5pPr lvl="4" rtl="0">
              <a:buNone/>
              <a:defRPr sz="1000">
                <a:solidFill>
                  <a:schemeClr val="dk1"/>
                </a:solidFill>
                <a:latin typeface="Economica"/>
                <a:ea typeface="Economica"/>
                <a:cs typeface="Economica"/>
                <a:sym typeface="Economica"/>
              </a:defRPr>
            </a:lvl5pPr>
            <a:lvl6pPr lvl="5" rtl="0">
              <a:buNone/>
              <a:defRPr sz="1000">
                <a:solidFill>
                  <a:schemeClr val="dk1"/>
                </a:solidFill>
                <a:latin typeface="Economica"/>
                <a:ea typeface="Economica"/>
                <a:cs typeface="Economica"/>
                <a:sym typeface="Economica"/>
              </a:defRPr>
            </a:lvl6pPr>
            <a:lvl7pPr lvl="6" rtl="0">
              <a:buNone/>
              <a:defRPr sz="1000">
                <a:solidFill>
                  <a:schemeClr val="dk1"/>
                </a:solidFill>
                <a:latin typeface="Economica"/>
                <a:ea typeface="Economica"/>
                <a:cs typeface="Economica"/>
                <a:sym typeface="Economica"/>
              </a:defRPr>
            </a:lvl7pPr>
            <a:lvl8pPr lvl="7" rtl="0">
              <a:buNone/>
              <a:defRPr sz="1000">
                <a:solidFill>
                  <a:schemeClr val="dk1"/>
                </a:solidFill>
                <a:latin typeface="Economica"/>
                <a:ea typeface="Economica"/>
                <a:cs typeface="Economica"/>
                <a:sym typeface="Economica"/>
              </a:defRPr>
            </a:lvl8pPr>
            <a:lvl9pPr lvl="8" rtl="0">
              <a:buNone/>
              <a:defRPr sz="1000">
                <a:solidFill>
                  <a:schemeClr val="dk1"/>
                </a:solidFill>
                <a:latin typeface="Economica"/>
                <a:ea typeface="Economica"/>
                <a:cs typeface="Economica"/>
                <a:sym typeface="Economica"/>
              </a:defRPr>
            </a:lvl9p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github.com/denmasch/Mensch-aergere-dich-nicht/commit/79358605aa56c167d0245e306084b0f9ade901c3" TargetMode="External"/><Relationship Id="rId4" Type="http://schemas.openxmlformats.org/officeDocument/2006/relationships/image" Target="../media/image19.png"/><Relationship Id="rId5"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4.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1.png"/><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7.png"/><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1.png"/><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github.com/denmasch/Mensch-aergere-dich-nicht/commit/d889eeb74609fe739501a85463b72194655ee0ac" TargetMode="External"/><Relationship Id="rId4" Type="http://schemas.openxmlformats.org/officeDocument/2006/relationships/hyperlink" Target="https://github.com/denmasch/Mensch-aergere-dich-nicht/commit/3ff24fe5bb2b1f305bc6ec36224c05cd3a983e4f"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de.wikipedia.org/wiki/Mensch_%C3%A4rgere_Dich_nicht#/media/Datei:Mensch_%C3%A4rgere_dich_nicht_4.svg"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9.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de"/>
              <a:t>Mensch ärgere dich nicht</a:t>
            </a:r>
            <a:endParaRPr/>
          </a:p>
        </p:txBody>
      </p:sp>
      <p:sp>
        <p:nvSpPr>
          <p:cNvPr id="73" name="Google Shape;73;p13"/>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fontScale="47500" lnSpcReduction="20000"/>
          </a:bodyPr>
          <a:lstStyle/>
          <a:p>
            <a:pPr indent="0" lvl="0" marL="0" rtl="0" algn="ctr">
              <a:spcBef>
                <a:spcPts val="0"/>
              </a:spcBef>
              <a:spcAft>
                <a:spcPts val="0"/>
              </a:spcAft>
              <a:buNone/>
            </a:pPr>
            <a:r>
              <a:rPr lang="de"/>
              <a:t>Advanced Software Engineering</a:t>
            </a:r>
            <a:endParaRPr/>
          </a:p>
          <a:p>
            <a:pPr indent="0" lvl="0" marL="0" rtl="0" algn="ctr">
              <a:spcBef>
                <a:spcPts val="0"/>
              </a:spcBef>
              <a:spcAft>
                <a:spcPts val="0"/>
              </a:spcAft>
              <a:buNone/>
            </a:pPr>
            <a:r>
              <a:t/>
            </a:r>
            <a:endParaRPr/>
          </a:p>
          <a:p>
            <a:pPr indent="0" lvl="0" marL="0" rtl="0" algn="ctr">
              <a:spcBef>
                <a:spcPts val="0"/>
              </a:spcBef>
              <a:spcAft>
                <a:spcPts val="0"/>
              </a:spcAft>
              <a:buNone/>
            </a:pPr>
            <a:r>
              <a:rPr lang="de"/>
              <a:t>Jannik Metz</a:t>
            </a:r>
            <a:endParaRPr/>
          </a:p>
          <a:p>
            <a:pPr indent="0" lvl="0" marL="0" rtl="0" algn="ctr">
              <a:spcBef>
                <a:spcPts val="0"/>
              </a:spcBef>
              <a:spcAft>
                <a:spcPts val="0"/>
              </a:spcAft>
              <a:buNone/>
            </a:pPr>
            <a:r>
              <a:rPr lang="de"/>
              <a:t>Devin Schnurr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Inhalt</a:t>
            </a:r>
            <a:endParaRPr/>
          </a:p>
        </p:txBody>
      </p:sp>
      <p:sp>
        <p:nvSpPr>
          <p:cNvPr id="79" name="Google Shape;79;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AutoNum type="arabicPeriod"/>
            </a:pPr>
            <a:r>
              <a:rPr lang="de">
                <a:latin typeface="Economica"/>
                <a:ea typeface="Economica"/>
                <a:cs typeface="Economica"/>
                <a:sym typeface="Economica"/>
              </a:rPr>
              <a:t>Einführung</a:t>
            </a:r>
            <a:endParaRPr>
              <a:latin typeface="Economica"/>
              <a:ea typeface="Economica"/>
              <a:cs typeface="Economica"/>
              <a:sym typeface="Economica"/>
            </a:endParaRPr>
          </a:p>
          <a:p>
            <a:pPr indent="-342900" lvl="0" marL="457200" rtl="0" algn="l">
              <a:spcBef>
                <a:spcPts val="0"/>
              </a:spcBef>
              <a:spcAft>
                <a:spcPts val="0"/>
              </a:spcAft>
              <a:buSzPts val="1800"/>
              <a:buFont typeface="Economica"/>
              <a:buAutoNum type="arabicPeriod"/>
            </a:pPr>
            <a:r>
              <a:rPr lang="de">
                <a:latin typeface="Economica"/>
                <a:ea typeface="Economica"/>
                <a:cs typeface="Economica"/>
                <a:sym typeface="Economica"/>
              </a:rPr>
              <a:t>Softwarearchitektur</a:t>
            </a:r>
            <a:endParaRPr>
              <a:latin typeface="Economica"/>
              <a:ea typeface="Economica"/>
              <a:cs typeface="Economica"/>
              <a:sym typeface="Economica"/>
            </a:endParaRPr>
          </a:p>
          <a:p>
            <a:pPr indent="-342900" lvl="0" marL="457200" rtl="0" algn="l">
              <a:spcBef>
                <a:spcPts val="0"/>
              </a:spcBef>
              <a:spcAft>
                <a:spcPts val="0"/>
              </a:spcAft>
              <a:buSzPts val="1800"/>
              <a:buFont typeface="Economica"/>
              <a:buAutoNum type="arabicPeriod"/>
            </a:pPr>
            <a:r>
              <a:rPr lang="de">
                <a:latin typeface="Economica"/>
                <a:ea typeface="Economica"/>
                <a:cs typeface="Economica"/>
                <a:sym typeface="Economica"/>
              </a:rPr>
              <a:t>SOLID</a:t>
            </a:r>
            <a:endParaRPr>
              <a:latin typeface="Economica"/>
              <a:ea typeface="Economica"/>
              <a:cs typeface="Economica"/>
              <a:sym typeface="Economica"/>
            </a:endParaRPr>
          </a:p>
          <a:p>
            <a:pPr indent="-342900" lvl="0" marL="457200" rtl="0" algn="l">
              <a:spcBef>
                <a:spcPts val="0"/>
              </a:spcBef>
              <a:spcAft>
                <a:spcPts val="0"/>
              </a:spcAft>
              <a:buSzPts val="1800"/>
              <a:buFont typeface="Economica"/>
              <a:buAutoNum type="arabicPeriod"/>
            </a:pPr>
            <a:r>
              <a:rPr lang="de">
                <a:latin typeface="Economica"/>
                <a:ea typeface="Economica"/>
                <a:cs typeface="Economica"/>
                <a:sym typeface="Economica"/>
              </a:rPr>
              <a:t>Weitere Prinzipien</a:t>
            </a:r>
            <a:endParaRPr>
              <a:latin typeface="Economica"/>
              <a:ea typeface="Economica"/>
              <a:cs typeface="Economica"/>
              <a:sym typeface="Economica"/>
            </a:endParaRPr>
          </a:p>
          <a:p>
            <a:pPr indent="-342900" lvl="0" marL="457200" rtl="0" algn="l">
              <a:spcBef>
                <a:spcPts val="0"/>
              </a:spcBef>
              <a:spcAft>
                <a:spcPts val="0"/>
              </a:spcAft>
              <a:buSzPts val="1800"/>
              <a:buFont typeface="Economica"/>
              <a:buAutoNum type="arabicPeriod"/>
            </a:pPr>
            <a:r>
              <a:rPr lang="de">
                <a:latin typeface="Economica"/>
                <a:ea typeface="Economica"/>
                <a:cs typeface="Economica"/>
                <a:sym typeface="Economica"/>
              </a:rPr>
              <a:t>Unit Tests</a:t>
            </a:r>
            <a:endParaRPr>
              <a:latin typeface="Economica"/>
              <a:ea typeface="Economica"/>
              <a:cs typeface="Economica"/>
              <a:sym typeface="Economica"/>
            </a:endParaRPr>
          </a:p>
          <a:p>
            <a:pPr indent="-342900" lvl="0" marL="457200" rtl="0" algn="l">
              <a:spcBef>
                <a:spcPts val="0"/>
              </a:spcBef>
              <a:spcAft>
                <a:spcPts val="0"/>
              </a:spcAft>
              <a:buSzPts val="1800"/>
              <a:buFont typeface="Economica"/>
              <a:buAutoNum type="arabicPeriod"/>
            </a:pPr>
            <a:r>
              <a:rPr lang="de">
                <a:latin typeface="Economica"/>
                <a:ea typeface="Economica"/>
                <a:cs typeface="Economica"/>
                <a:sym typeface="Economica"/>
              </a:rPr>
              <a:t>Domain Driven Design</a:t>
            </a:r>
            <a:endParaRPr>
              <a:latin typeface="Economica"/>
              <a:ea typeface="Economica"/>
              <a:cs typeface="Economica"/>
              <a:sym typeface="Economica"/>
            </a:endParaRPr>
          </a:p>
          <a:p>
            <a:pPr indent="-342900" lvl="0" marL="457200" rtl="0" algn="l">
              <a:spcBef>
                <a:spcPts val="0"/>
              </a:spcBef>
              <a:spcAft>
                <a:spcPts val="0"/>
              </a:spcAft>
              <a:buSzPts val="1800"/>
              <a:buFont typeface="Economica"/>
              <a:buAutoNum type="arabicPeriod"/>
            </a:pPr>
            <a:r>
              <a:rPr lang="de">
                <a:latin typeface="Economica"/>
                <a:ea typeface="Economica"/>
                <a:cs typeface="Economica"/>
                <a:sym typeface="Economica"/>
              </a:rPr>
              <a:t>Refactoring</a:t>
            </a:r>
            <a:endParaRPr>
              <a:latin typeface="Economica"/>
              <a:ea typeface="Economica"/>
              <a:cs typeface="Economica"/>
              <a:sym typeface="Economica"/>
            </a:endParaRPr>
          </a:p>
          <a:p>
            <a:pPr indent="-342900" lvl="0" marL="457200" rtl="0" algn="l">
              <a:spcBef>
                <a:spcPts val="0"/>
              </a:spcBef>
              <a:spcAft>
                <a:spcPts val="0"/>
              </a:spcAft>
              <a:buSzPts val="1800"/>
              <a:buFont typeface="Economica"/>
              <a:buAutoNum type="arabicPeriod"/>
            </a:pPr>
            <a:r>
              <a:rPr lang="de">
                <a:latin typeface="Economica"/>
                <a:ea typeface="Economica"/>
                <a:cs typeface="Economica"/>
                <a:sym typeface="Economica"/>
              </a:rPr>
              <a:t>Entwurfsmuster</a:t>
            </a:r>
            <a:endParaRPr>
              <a:latin typeface="Economica"/>
              <a:ea typeface="Economica"/>
              <a:cs typeface="Economica"/>
              <a:sym typeface="Economica"/>
            </a:endParaRPr>
          </a:p>
        </p:txBody>
      </p:sp>
      <p:sp>
        <p:nvSpPr>
          <p:cNvPr id="80" name="Google Shape;80;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81" name="Google Shape;81;p14"/>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Einführung</a:t>
            </a:r>
            <a:endParaRPr/>
          </a:p>
        </p:txBody>
      </p:sp>
      <p:sp>
        <p:nvSpPr>
          <p:cNvPr id="87" name="Google Shape;8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88" name="Google Shape;88;p15"/>
          <p:cNvSpPr txBox="1"/>
          <p:nvPr>
            <p:ph idx="2" type="sldNum"/>
          </p:nvPr>
        </p:nvSpPr>
        <p:spPr>
          <a:xfrm>
            <a:off x="311684" y="4663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Überblick </a:t>
            </a:r>
            <a:endParaRPr/>
          </a:p>
        </p:txBody>
      </p:sp>
      <p:sp>
        <p:nvSpPr>
          <p:cNvPr id="94" name="Google Shape;94;p16"/>
          <p:cNvSpPr txBox="1"/>
          <p:nvPr>
            <p:ph idx="1" type="body"/>
          </p:nvPr>
        </p:nvSpPr>
        <p:spPr>
          <a:xfrm>
            <a:off x="311700" y="1228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“Mensch ärgere dich nicht”-Spiel</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Server/Client</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Network-Play möglich</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CLI Anwendung</a:t>
            </a:r>
            <a:endParaRPr>
              <a:latin typeface="Economica"/>
              <a:ea typeface="Economica"/>
              <a:cs typeface="Economica"/>
              <a:sym typeface="Economica"/>
            </a:endParaRPr>
          </a:p>
        </p:txBody>
      </p:sp>
      <p:sp>
        <p:nvSpPr>
          <p:cNvPr id="95" name="Google Shape;9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96" name="Google Shape;96;p16"/>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97" name="Google Shape;97;p16"/>
          <p:cNvPicPr preferRelativeResize="0"/>
          <p:nvPr/>
        </p:nvPicPr>
        <p:blipFill>
          <a:blip r:embed="rId3">
            <a:alphaModFix/>
          </a:blip>
          <a:stretch>
            <a:fillRect/>
          </a:stretch>
        </p:blipFill>
        <p:spPr>
          <a:xfrm>
            <a:off x="5151100" y="911075"/>
            <a:ext cx="3321350" cy="3321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Überblick </a:t>
            </a:r>
            <a:endParaRPr/>
          </a:p>
        </p:txBody>
      </p:sp>
      <p:sp>
        <p:nvSpPr>
          <p:cNvPr id="103" name="Google Shape;103;p17"/>
          <p:cNvSpPr txBox="1"/>
          <p:nvPr>
            <p:ph idx="1" type="body"/>
          </p:nvPr>
        </p:nvSpPr>
        <p:spPr>
          <a:xfrm>
            <a:off x="311700" y="1228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latin typeface="Economica"/>
              <a:ea typeface="Economica"/>
              <a:cs typeface="Economica"/>
              <a:sym typeface="Economica"/>
            </a:endParaRPr>
          </a:p>
        </p:txBody>
      </p:sp>
      <p:sp>
        <p:nvSpPr>
          <p:cNvPr id="104" name="Google Shape;10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05" name="Google Shape;105;p17"/>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106" name="Google Shape;106;p17"/>
          <p:cNvPicPr preferRelativeResize="0"/>
          <p:nvPr/>
        </p:nvPicPr>
        <p:blipFill>
          <a:blip r:embed="rId3">
            <a:alphaModFix/>
          </a:blip>
          <a:stretch>
            <a:fillRect/>
          </a:stretch>
        </p:blipFill>
        <p:spPr>
          <a:xfrm>
            <a:off x="235024" y="1681275"/>
            <a:ext cx="4523400" cy="2138150"/>
          </a:xfrm>
          <a:prstGeom prst="rect">
            <a:avLst/>
          </a:prstGeom>
          <a:noFill/>
          <a:ln>
            <a:noFill/>
          </a:ln>
        </p:spPr>
      </p:pic>
      <p:pic>
        <p:nvPicPr>
          <p:cNvPr id="107" name="Google Shape;107;p17"/>
          <p:cNvPicPr preferRelativeResize="0"/>
          <p:nvPr/>
        </p:nvPicPr>
        <p:blipFill>
          <a:blip r:embed="rId4">
            <a:alphaModFix/>
          </a:blip>
          <a:stretch>
            <a:fillRect/>
          </a:stretch>
        </p:blipFill>
        <p:spPr>
          <a:xfrm>
            <a:off x="5075174" y="216825"/>
            <a:ext cx="3598525" cy="4709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Überblick </a:t>
            </a:r>
            <a:endParaRPr/>
          </a:p>
        </p:txBody>
      </p:sp>
      <p:sp>
        <p:nvSpPr>
          <p:cNvPr id="113" name="Google Shape;113;p18"/>
          <p:cNvSpPr txBox="1"/>
          <p:nvPr>
            <p:ph idx="1" type="body"/>
          </p:nvPr>
        </p:nvSpPr>
        <p:spPr>
          <a:xfrm>
            <a:off x="311700" y="1228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latin typeface="Economica"/>
              <a:ea typeface="Economica"/>
              <a:cs typeface="Economica"/>
              <a:sym typeface="Economica"/>
            </a:endParaRPr>
          </a:p>
        </p:txBody>
      </p:sp>
      <p:sp>
        <p:nvSpPr>
          <p:cNvPr id="114" name="Google Shape;11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15" name="Google Shape;115;p18"/>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116" name="Google Shape;116;p18"/>
          <p:cNvPicPr preferRelativeResize="0"/>
          <p:nvPr/>
        </p:nvPicPr>
        <p:blipFill>
          <a:blip r:embed="rId3">
            <a:alphaModFix/>
          </a:blip>
          <a:stretch>
            <a:fillRect/>
          </a:stretch>
        </p:blipFill>
        <p:spPr>
          <a:xfrm>
            <a:off x="2820577" y="315922"/>
            <a:ext cx="5479251" cy="1251150"/>
          </a:xfrm>
          <a:prstGeom prst="rect">
            <a:avLst/>
          </a:prstGeom>
          <a:noFill/>
          <a:ln>
            <a:noFill/>
          </a:ln>
        </p:spPr>
      </p:pic>
      <p:pic>
        <p:nvPicPr>
          <p:cNvPr id="117" name="Google Shape;117;p18"/>
          <p:cNvPicPr preferRelativeResize="0"/>
          <p:nvPr/>
        </p:nvPicPr>
        <p:blipFill>
          <a:blip r:embed="rId4">
            <a:alphaModFix/>
          </a:blip>
          <a:stretch>
            <a:fillRect/>
          </a:stretch>
        </p:blipFill>
        <p:spPr>
          <a:xfrm>
            <a:off x="2008197" y="1840147"/>
            <a:ext cx="4727050" cy="302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Starten des Spiels</a:t>
            </a:r>
            <a:endParaRPr/>
          </a:p>
        </p:txBody>
      </p:sp>
      <p:sp>
        <p:nvSpPr>
          <p:cNvPr id="123" name="Google Shape;123;p1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latin typeface="Economica"/>
                <a:ea typeface="Economica"/>
                <a:cs typeface="Economica"/>
                <a:sym typeface="Economica"/>
              </a:rPr>
              <a:t>Vorraussetzungen:</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de">
                <a:latin typeface="Economica"/>
                <a:ea typeface="Economica"/>
                <a:cs typeface="Economica"/>
                <a:sym typeface="Economica"/>
              </a:rPr>
              <a:t>Docker und Docker compose installiert</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Python installiert</a:t>
            </a:r>
            <a:endParaRPr>
              <a:latin typeface="Economica"/>
              <a:ea typeface="Economica"/>
              <a:cs typeface="Economica"/>
              <a:sym typeface="Economica"/>
            </a:endParaRPr>
          </a:p>
          <a:p>
            <a:pPr indent="0" lvl="0" marL="0" rtl="0" algn="l">
              <a:spcBef>
                <a:spcPts val="1200"/>
              </a:spcBef>
              <a:spcAft>
                <a:spcPts val="0"/>
              </a:spcAft>
              <a:buNone/>
            </a:pPr>
            <a:r>
              <a:rPr lang="de">
                <a:latin typeface="Economica"/>
                <a:ea typeface="Economica"/>
                <a:cs typeface="Economica"/>
                <a:sym typeface="Economica"/>
              </a:rPr>
              <a:t>Spiel Starten:</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de">
                <a:latin typeface="Economica"/>
                <a:ea typeface="Economica"/>
                <a:cs typeface="Economica"/>
                <a:sym typeface="Economica"/>
              </a:rPr>
              <a:t>Zip Datei aus der GitHub release page herunterladen und Entpacken</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Konsole öffnen und in den entpackten Ordner navigieren</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Startupskript ausfühen: 	</a:t>
            </a:r>
            <a:r>
              <a:rPr lang="de">
                <a:latin typeface="Roboto Mono Light"/>
                <a:ea typeface="Roboto Mono Light"/>
                <a:cs typeface="Roboto Mono Light"/>
                <a:sym typeface="Roboto Mono Light"/>
              </a:rPr>
              <a:t>python ./madn.py</a:t>
            </a:r>
            <a:endParaRPr>
              <a:latin typeface="Roboto Mono Light"/>
              <a:ea typeface="Roboto Mono Light"/>
              <a:cs typeface="Roboto Mono Light"/>
              <a:sym typeface="Roboto Mono Light"/>
            </a:endParaRPr>
          </a:p>
        </p:txBody>
      </p:sp>
      <p:sp>
        <p:nvSpPr>
          <p:cNvPr id="124" name="Google Shape;12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25" name="Google Shape;125;p19"/>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Techstack</a:t>
            </a:r>
            <a:endParaRPr/>
          </a:p>
        </p:txBody>
      </p:sp>
      <p:sp>
        <p:nvSpPr>
          <p:cNvPr id="131" name="Google Shape;131;p2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C# </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AspNet </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GitHub </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GitHub Actions </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Docker mit Docker Compose</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MSTest</a:t>
            </a:r>
            <a:endParaRPr>
              <a:latin typeface="Economica"/>
              <a:ea typeface="Economica"/>
              <a:cs typeface="Economica"/>
              <a:sym typeface="Economica"/>
            </a:endParaRPr>
          </a:p>
        </p:txBody>
      </p:sp>
      <p:sp>
        <p:nvSpPr>
          <p:cNvPr id="132" name="Google Shape;13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33" name="Google Shape;133;p20"/>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Software Architektur</a:t>
            </a:r>
            <a:endParaRPr/>
          </a:p>
        </p:txBody>
      </p:sp>
      <p:sp>
        <p:nvSpPr>
          <p:cNvPr id="139" name="Google Shape;13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40" name="Google Shape;140;p21"/>
          <p:cNvSpPr txBox="1"/>
          <p:nvPr>
            <p:ph idx="2" type="sldNum"/>
          </p:nvPr>
        </p:nvSpPr>
        <p:spPr>
          <a:xfrm>
            <a:off x="311684" y="4663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Clean Architecture</a:t>
            </a:r>
            <a:endParaRPr/>
          </a:p>
        </p:txBody>
      </p:sp>
      <p:sp>
        <p:nvSpPr>
          <p:cNvPr id="146" name="Google Shape;146;p2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latin typeface="Economica"/>
              <a:ea typeface="Economica"/>
              <a:cs typeface="Economica"/>
              <a:sym typeface="Economica"/>
            </a:endParaRPr>
          </a:p>
        </p:txBody>
      </p:sp>
      <p:sp>
        <p:nvSpPr>
          <p:cNvPr id="147" name="Google Shape;14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48" name="Google Shape;148;p22"/>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149" name="Google Shape;149;p22" title="clean_ar.chitecture.jpg"/>
          <p:cNvPicPr preferRelativeResize="0"/>
          <p:nvPr/>
        </p:nvPicPr>
        <p:blipFill>
          <a:blip r:embed="rId3">
            <a:alphaModFix/>
          </a:blip>
          <a:stretch>
            <a:fillRect/>
          </a:stretch>
        </p:blipFill>
        <p:spPr>
          <a:xfrm>
            <a:off x="2747275" y="966225"/>
            <a:ext cx="3649450" cy="3649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Clean Architecture</a:t>
            </a:r>
            <a:endParaRPr/>
          </a:p>
        </p:txBody>
      </p:sp>
      <p:sp>
        <p:nvSpPr>
          <p:cNvPr id="155" name="Google Shape;155;p2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e">
                <a:latin typeface="Economica"/>
                <a:ea typeface="Economica"/>
                <a:cs typeface="Economica"/>
                <a:sym typeface="Economica"/>
              </a:rPr>
              <a:t>Fachdomäne:</a:t>
            </a:r>
            <a:endParaRPr>
              <a:latin typeface="Economica"/>
              <a:ea typeface="Economica"/>
              <a:cs typeface="Economica"/>
              <a:sym typeface="Economica"/>
            </a:endParaRPr>
          </a:p>
        </p:txBody>
      </p:sp>
      <p:sp>
        <p:nvSpPr>
          <p:cNvPr id="156" name="Google Shape;156;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57" name="Google Shape;157;p23"/>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158" name="Google Shape;158;p23"/>
          <p:cNvPicPr preferRelativeResize="0"/>
          <p:nvPr/>
        </p:nvPicPr>
        <p:blipFill>
          <a:blip r:embed="rId3">
            <a:alphaModFix/>
          </a:blip>
          <a:stretch>
            <a:fillRect/>
          </a:stretch>
        </p:blipFill>
        <p:spPr>
          <a:xfrm>
            <a:off x="3694127" y="469300"/>
            <a:ext cx="4575025" cy="4109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Clean Architecture</a:t>
            </a:r>
            <a:endParaRPr/>
          </a:p>
        </p:txBody>
      </p:sp>
      <p:sp>
        <p:nvSpPr>
          <p:cNvPr id="164" name="Google Shape;164;p2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e">
                <a:latin typeface="Economica"/>
                <a:ea typeface="Economica"/>
                <a:cs typeface="Economica"/>
                <a:sym typeface="Economica"/>
              </a:rPr>
              <a:t>Use Cases</a:t>
            </a:r>
            <a:r>
              <a:rPr lang="de">
                <a:latin typeface="Economica"/>
                <a:ea typeface="Economica"/>
                <a:cs typeface="Economica"/>
                <a:sym typeface="Economica"/>
              </a:rPr>
              <a:t>:</a:t>
            </a:r>
            <a:endParaRPr>
              <a:latin typeface="Economica"/>
              <a:ea typeface="Economica"/>
              <a:cs typeface="Economica"/>
              <a:sym typeface="Economica"/>
            </a:endParaRPr>
          </a:p>
        </p:txBody>
      </p:sp>
      <p:sp>
        <p:nvSpPr>
          <p:cNvPr id="165" name="Google Shape;165;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66" name="Google Shape;166;p24"/>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167" name="Google Shape;167;p24"/>
          <p:cNvPicPr preferRelativeResize="0"/>
          <p:nvPr/>
        </p:nvPicPr>
        <p:blipFill>
          <a:blip r:embed="rId3">
            <a:alphaModFix/>
          </a:blip>
          <a:stretch>
            <a:fillRect/>
          </a:stretch>
        </p:blipFill>
        <p:spPr>
          <a:xfrm>
            <a:off x="4511000" y="1655025"/>
            <a:ext cx="4281624" cy="2871500"/>
          </a:xfrm>
          <a:prstGeom prst="rect">
            <a:avLst/>
          </a:prstGeom>
          <a:noFill/>
          <a:ln>
            <a:noFill/>
          </a:ln>
        </p:spPr>
      </p:pic>
      <p:pic>
        <p:nvPicPr>
          <p:cNvPr id="168" name="Google Shape;168;p24"/>
          <p:cNvPicPr preferRelativeResize="0"/>
          <p:nvPr/>
        </p:nvPicPr>
        <p:blipFill>
          <a:blip r:embed="rId4">
            <a:alphaModFix/>
          </a:blip>
          <a:stretch>
            <a:fillRect/>
          </a:stretch>
        </p:blipFill>
        <p:spPr>
          <a:xfrm>
            <a:off x="349850" y="1901438"/>
            <a:ext cx="3924825" cy="2378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Clean Architecture</a:t>
            </a:r>
            <a:endParaRPr/>
          </a:p>
        </p:txBody>
      </p:sp>
      <p:sp>
        <p:nvSpPr>
          <p:cNvPr id="174" name="Google Shape;174;p2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e">
                <a:latin typeface="Economica"/>
                <a:ea typeface="Economica"/>
                <a:cs typeface="Economica"/>
                <a:sym typeface="Economica"/>
              </a:rPr>
              <a:t>Gateway:</a:t>
            </a:r>
            <a:endParaRPr>
              <a:latin typeface="Economica"/>
              <a:ea typeface="Economica"/>
              <a:cs typeface="Economica"/>
              <a:sym typeface="Economica"/>
            </a:endParaRPr>
          </a:p>
        </p:txBody>
      </p:sp>
      <p:sp>
        <p:nvSpPr>
          <p:cNvPr id="175" name="Google Shape;17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76" name="Google Shape;176;p25"/>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177" name="Google Shape;177;p25"/>
          <p:cNvPicPr preferRelativeResize="0"/>
          <p:nvPr/>
        </p:nvPicPr>
        <p:blipFill>
          <a:blip r:embed="rId3">
            <a:alphaModFix/>
          </a:blip>
          <a:stretch>
            <a:fillRect/>
          </a:stretch>
        </p:blipFill>
        <p:spPr>
          <a:xfrm>
            <a:off x="581013" y="1828800"/>
            <a:ext cx="3990975" cy="2457450"/>
          </a:xfrm>
          <a:prstGeom prst="rect">
            <a:avLst/>
          </a:prstGeom>
          <a:noFill/>
          <a:ln>
            <a:noFill/>
          </a:ln>
        </p:spPr>
      </p:pic>
      <p:pic>
        <p:nvPicPr>
          <p:cNvPr id="178" name="Google Shape;178;p25"/>
          <p:cNvPicPr preferRelativeResize="0"/>
          <p:nvPr/>
        </p:nvPicPr>
        <p:blipFill>
          <a:blip r:embed="rId4">
            <a:alphaModFix/>
          </a:blip>
          <a:stretch>
            <a:fillRect/>
          </a:stretch>
        </p:blipFill>
        <p:spPr>
          <a:xfrm>
            <a:off x="5945650" y="799213"/>
            <a:ext cx="2076450" cy="3705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Domain Code</a:t>
            </a:r>
            <a:endParaRPr/>
          </a:p>
        </p:txBody>
      </p:sp>
      <p:sp>
        <p:nvSpPr>
          <p:cNvPr id="184" name="Google Shape;184;p2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Kernlogik der Anwendung (</a:t>
            </a:r>
            <a:r>
              <a:rPr lang="de">
                <a:latin typeface="Economica"/>
                <a:ea typeface="Economica"/>
                <a:cs typeface="Economica"/>
                <a:sym typeface="Economica"/>
              </a:rPr>
              <a:t>Businesslogik)</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Technologie unabhängig</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Langlebigkeit</a:t>
            </a:r>
            <a:endParaRPr>
              <a:latin typeface="Economica"/>
              <a:ea typeface="Economica"/>
              <a:cs typeface="Economica"/>
              <a:sym typeface="Economica"/>
            </a:endParaRPr>
          </a:p>
          <a:p>
            <a:pPr indent="0" lvl="0" marL="0" rtl="0" algn="l">
              <a:spcBef>
                <a:spcPts val="1200"/>
              </a:spcBef>
              <a:spcAft>
                <a:spcPts val="0"/>
              </a:spcAft>
              <a:buNone/>
            </a:pPr>
            <a:r>
              <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de">
                <a:latin typeface="Economica"/>
                <a:ea typeface="Economica"/>
                <a:cs typeface="Economica"/>
                <a:sym typeface="Economica"/>
              </a:rPr>
              <a:t>Bsp.: MoveValidator</a:t>
            </a:r>
            <a:endParaRPr>
              <a:latin typeface="Economica"/>
              <a:ea typeface="Economica"/>
              <a:cs typeface="Economica"/>
              <a:sym typeface="Economica"/>
            </a:endParaRPr>
          </a:p>
        </p:txBody>
      </p:sp>
      <p:sp>
        <p:nvSpPr>
          <p:cNvPr id="185" name="Google Shape;18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86" name="Google Shape;186;p26"/>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187" name="Google Shape;187;p26"/>
          <p:cNvPicPr preferRelativeResize="0"/>
          <p:nvPr/>
        </p:nvPicPr>
        <p:blipFill>
          <a:blip r:embed="rId3">
            <a:alphaModFix/>
          </a:blip>
          <a:stretch>
            <a:fillRect/>
          </a:stretch>
        </p:blipFill>
        <p:spPr>
          <a:xfrm>
            <a:off x="4712150" y="1267700"/>
            <a:ext cx="3336326" cy="3269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Analyse der Dependency Rule</a:t>
            </a:r>
            <a:endParaRPr/>
          </a:p>
        </p:txBody>
      </p:sp>
      <p:sp>
        <p:nvSpPr>
          <p:cNvPr id="193" name="Google Shape;193;p27"/>
          <p:cNvSpPr txBox="1"/>
          <p:nvPr>
            <p:ph idx="1" type="body"/>
          </p:nvPr>
        </p:nvSpPr>
        <p:spPr>
          <a:xfrm>
            <a:off x="311700" y="1225225"/>
            <a:ext cx="4167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latin typeface="Economica"/>
                <a:ea typeface="Economica"/>
                <a:cs typeface="Economica"/>
                <a:sym typeface="Economica"/>
              </a:rPr>
              <a:t>Positiv Beispiel:</a:t>
            </a:r>
            <a:endParaRPr>
              <a:latin typeface="Economica"/>
              <a:ea typeface="Economica"/>
              <a:cs typeface="Economica"/>
              <a:sym typeface="Economica"/>
            </a:endParaRPr>
          </a:p>
          <a:p>
            <a:pPr indent="0" lvl="0" marL="0" rtl="0" algn="l">
              <a:spcBef>
                <a:spcPts val="1200"/>
              </a:spcBef>
              <a:spcAft>
                <a:spcPts val="1200"/>
              </a:spcAft>
              <a:buNone/>
            </a:pPr>
            <a:r>
              <a:rPr lang="de">
                <a:latin typeface="Economica"/>
                <a:ea typeface="Economica"/>
                <a:cs typeface="Economica"/>
                <a:sym typeface="Economica"/>
              </a:rPr>
              <a:t>hängt nur von Interfaces ab</a:t>
            </a:r>
            <a:endParaRPr>
              <a:latin typeface="Economica"/>
              <a:ea typeface="Economica"/>
              <a:cs typeface="Economica"/>
              <a:sym typeface="Economica"/>
            </a:endParaRPr>
          </a:p>
        </p:txBody>
      </p:sp>
      <p:sp>
        <p:nvSpPr>
          <p:cNvPr id="194" name="Google Shape;19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95" name="Google Shape;195;p27"/>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196" name="Google Shape;196;p27"/>
          <p:cNvPicPr preferRelativeResize="0"/>
          <p:nvPr/>
        </p:nvPicPr>
        <p:blipFill>
          <a:blip r:embed="rId3">
            <a:alphaModFix/>
          </a:blip>
          <a:stretch>
            <a:fillRect/>
          </a:stretch>
        </p:blipFill>
        <p:spPr>
          <a:xfrm>
            <a:off x="3818250" y="1382800"/>
            <a:ext cx="5014051" cy="3038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Analyse der Dependency Rule</a:t>
            </a:r>
            <a:endParaRPr/>
          </a:p>
        </p:txBody>
      </p:sp>
      <p:sp>
        <p:nvSpPr>
          <p:cNvPr id="202" name="Google Shape;202;p28"/>
          <p:cNvSpPr txBox="1"/>
          <p:nvPr>
            <p:ph idx="1" type="body"/>
          </p:nvPr>
        </p:nvSpPr>
        <p:spPr>
          <a:xfrm>
            <a:off x="311700" y="1204450"/>
            <a:ext cx="3573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latin typeface="Economica"/>
                <a:ea typeface="Economica"/>
                <a:cs typeface="Economica"/>
                <a:sym typeface="Economica"/>
              </a:rPr>
              <a:t>Negativ Beispiel:</a:t>
            </a:r>
            <a:endParaRPr>
              <a:latin typeface="Economica"/>
              <a:ea typeface="Economica"/>
              <a:cs typeface="Economica"/>
              <a:sym typeface="Economica"/>
            </a:endParaRPr>
          </a:p>
          <a:p>
            <a:pPr indent="0" lvl="0" marL="0" rtl="0" algn="l">
              <a:spcBef>
                <a:spcPts val="1200"/>
              </a:spcBef>
              <a:spcAft>
                <a:spcPts val="0"/>
              </a:spcAft>
              <a:buNone/>
            </a:pPr>
            <a:r>
              <a:rPr lang="de">
                <a:latin typeface="Economica"/>
                <a:ea typeface="Economica"/>
                <a:cs typeface="Economica"/>
                <a:sym typeface="Economica"/>
              </a:rPr>
              <a:t>Game Klasse vor Refactoring </a:t>
            </a:r>
            <a:endParaRPr>
              <a:latin typeface="Economica"/>
              <a:ea typeface="Economica"/>
              <a:cs typeface="Economica"/>
              <a:sym typeface="Economica"/>
            </a:endParaRPr>
          </a:p>
          <a:p>
            <a:pPr indent="0" lvl="0" marL="0" rtl="0" algn="l">
              <a:spcBef>
                <a:spcPts val="1200"/>
              </a:spcBef>
              <a:spcAft>
                <a:spcPts val="1200"/>
              </a:spcAft>
              <a:buNone/>
            </a:pPr>
            <a:r>
              <a:rPr lang="de">
                <a:latin typeface="Economica"/>
                <a:ea typeface="Economica"/>
                <a:cs typeface="Economica"/>
                <a:sym typeface="Economica"/>
              </a:rPr>
              <a:t>Abhängig von statischen Klassen StatsService und Logger</a:t>
            </a:r>
            <a:endParaRPr>
              <a:latin typeface="Economica"/>
              <a:ea typeface="Economica"/>
              <a:cs typeface="Economica"/>
              <a:sym typeface="Economica"/>
            </a:endParaRPr>
          </a:p>
        </p:txBody>
      </p:sp>
      <p:sp>
        <p:nvSpPr>
          <p:cNvPr id="203" name="Google Shape;20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04" name="Google Shape;204;p28"/>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205" name="Google Shape;205;p28"/>
          <p:cNvPicPr preferRelativeResize="0"/>
          <p:nvPr/>
        </p:nvPicPr>
        <p:blipFill>
          <a:blip r:embed="rId3">
            <a:alphaModFix/>
          </a:blip>
          <a:stretch>
            <a:fillRect/>
          </a:stretch>
        </p:blipFill>
        <p:spPr>
          <a:xfrm>
            <a:off x="4149426" y="1147225"/>
            <a:ext cx="4393740" cy="3354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9"/>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SOLID</a:t>
            </a:r>
            <a:endParaRPr/>
          </a:p>
        </p:txBody>
      </p:sp>
      <p:sp>
        <p:nvSpPr>
          <p:cNvPr id="211" name="Google Shape;21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12" name="Google Shape;212;p29"/>
          <p:cNvSpPr txBox="1"/>
          <p:nvPr>
            <p:ph idx="2" type="sldNum"/>
          </p:nvPr>
        </p:nvSpPr>
        <p:spPr>
          <a:xfrm>
            <a:off x="311684" y="4663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Single Responsibility Principle</a:t>
            </a:r>
            <a:endParaRPr/>
          </a:p>
        </p:txBody>
      </p:sp>
      <p:sp>
        <p:nvSpPr>
          <p:cNvPr id="218" name="Google Shape;218;p3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latin typeface="Economica"/>
                <a:ea typeface="Economica"/>
                <a:cs typeface="Economica"/>
                <a:sym typeface="Economica"/>
              </a:rPr>
              <a:t>Positiv Beispiel: </a:t>
            </a:r>
            <a:endParaRPr>
              <a:latin typeface="Economica"/>
              <a:ea typeface="Economica"/>
              <a:cs typeface="Economica"/>
              <a:sym typeface="Economica"/>
            </a:endParaRPr>
          </a:p>
          <a:p>
            <a:pPr indent="0" lvl="0" marL="0" rtl="0" algn="l">
              <a:spcBef>
                <a:spcPts val="1200"/>
              </a:spcBef>
              <a:spcAft>
                <a:spcPts val="1200"/>
              </a:spcAft>
              <a:buNone/>
            </a:pPr>
            <a:r>
              <a:t/>
            </a:r>
            <a:endParaRPr>
              <a:latin typeface="Economica"/>
              <a:ea typeface="Economica"/>
              <a:cs typeface="Economica"/>
              <a:sym typeface="Economica"/>
            </a:endParaRPr>
          </a:p>
        </p:txBody>
      </p:sp>
      <p:sp>
        <p:nvSpPr>
          <p:cNvPr id="219" name="Google Shape;21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20" name="Google Shape;220;p30"/>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221" name="Google Shape;221;p30"/>
          <p:cNvPicPr preferRelativeResize="0"/>
          <p:nvPr/>
        </p:nvPicPr>
        <p:blipFill>
          <a:blip r:embed="rId3">
            <a:alphaModFix/>
          </a:blip>
          <a:stretch>
            <a:fillRect/>
          </a:stretch>
        </p:blipFill>
        <p:spPr>
          <a:xfrm>
            <a:off x="560125" y="2286125"/>
            <a:ext cx="3171825" cy="1190625"/>
          </a:xfrm>
          <a:prstGeom prst="rect">
            <a:avLst/>
          </a:prstGeom>
          <a:noFill/>
          <a:ln>
            <a:noFill/>
          </a:ln>
        </p:spPr>
      </p:pic>
      <p:pic>
        <p:nvPicPr>
          <p:cNvPr id="222" name="Google Shape;222;p30"/>
          <p:cNvPicPr preferRelativeResize="0"/>
          <p:nvPr/>
        </p:nvPicPr>
        <p:blipFill>
          <a:blip r:embed="rId4">
            <a:alphaModFix/>
          </a:blip>
          <a:stretch>
            <a:fillRect/>
          </a:stretch>
        </p:blipFill>
        <p:spPr>
          <a:xfrm>
            <a:off x="4296972" y="1377435"/>
            <a:ext cx="3993025" cy="3008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Single Responsibility Principle</a:t>
            </a:r>
            <a:endParaRPr/>
          </a:p>
        </p:txBody>
      </p:sp>
      <p:sp>
        <p:nvSpPr>
          <p:cNvPr id="228" name="Google Shape;228;p31"/>
          <p:cNvSpPr txBox="1"/>
          <p:nvPr>
            <p:ph idx="1" type="body"/>
          </p:nvPr>
        </p:nvSpPr>
        <p:spPr>
          <a:xfrm>
            <a:off x="311700" y="1228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latin typeface="Economica"/>
                <a:ea typeface="Economica"/>
                <a:cs typeface="Economica"/>
                <a:sym typeface="Economica"/>
              </a:rPr>
              <a:t>Negativ</a:t>
            </a:r>
            <a:r>
              <a:rPr lang="de">
                <a:latin typeface="Economica"/>
                <a:ea typeface="Economica"/>
                <a:cs typeface="Economica"/>
                <a:sym typeface="Economica"/>
              </a:rPr>
              <a:t> Beispiel: </a:t>
            </a:r>
            <a:endParaRPr>
              <a:latin typeface="Economica"/>
              <a:ea typeface="Economica"/>
              <a:cs typeface="Economica"/>
              <a:sym typeface="Economica"/>
            </a:endParaRPr>
          </a:p>
          <a:p>
            <a:pPr indent="0" lvl="0" marL="0" rtl="0" algn="l">
              <a:spcBef>
                <a:spcPts val="1200"/>
              </a:spcBef>
              <a:spcAft>
                <a:spcPts val="1200"/>
              </a:spcAft>
              <a:buNone/>
            </a:pPr>
            <a:r>
              <a:t/>
            </a:r>
            <a:endParaRPr>
              <a:latin typeface="Economica"/>
              <a:ea typeface="Economica"/>
              <a:cs typeface="Economica"/>
              <a:sym typeface="Economica"/>
            </a:endParaRPr>
          </a:p>
        </p:txBody>
      </p:sp>
      <p:sp>
        <p:nvSpPr>
          <p:cNvPr id="229" name="Google Shape;22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30" name="Google Shape;230;p31"/>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231" name="Google Shape;231;p31"/>
          <p:cNvPicPr preferRelativeResize="0"/>
          <p:nvPr/>
        </p:nvPicPr>
        <p:blipFill>
          <a:blip r:embed="rId3">
            <a:alphaModFix/>
          </a:blip>
          <a:stretch>
            <a:fillRect/>
          </a:stretch>
        </p:blipFill>
        <p:spPr>
          <a:xfrm>
            <a:off x="2709550" y="1261675"/>
            <a:ext cx="3724889" cy="3354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Open-Closed Principle</a:t>
            </a:r>
            <a:endParaRPr/>
          </a:p>
        </p:txBody>
      </p:sp>
      <p:sp>
        <p:nvSpPr>
          <p:cNvPr id="237" name="Google Shape;23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38" name="Google Shape;238;p32"/>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
        <p:nvSpPr>
          <p:cNvPr id="239" name="Google Shape;239;p32"/>
          <p:cNvSpPr txBox="1"/>
          <p:nvPr/>
        </p:nvSpPr>
        <p:spPr>
          <a:xfrm>
            <a:off x="311700" y="1227938"/>
            <a:ext cx="6642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800">
                <a:solidFill>
                  <a:schemeClr val="dk1"/>
                </a:solidFill>
                <a:latin typeface="Economica"/>
                <a:ea typeface="Economica"/>
                <a:cs typeface="Economica"/>
                <a:sym typeface="Economica"/>
              </a:rPr>
              <a:t>Positiv Beispiel:</a:t>
            </a:r>
            <a:endParaRPr sz="1800">
              <a:solidFill>
                <a:schemeClr val="dk1"/>
              </a:solidFill>
              <a:latin typeface="Economica"/>
              <a:ea typeface="Economica"/>
              <a:cs typeface="Economica"/>
              <a:sym typeface="Economica"/>
            </a:endParaRPr>
          </a:p>
          <a:p>
            <a:pPr indent="0" lvl="0" marL="0" rtl="0" algn="l">
              <a:spcBef>
                <a:spcPts val="0"/>
              </a:spcBef>
              <a:spcAft>
                <a:spcPts val="0"/>
              </a:spcAft>
              <a:buNone/>
            </a:pPr>
            <a:r>
              <a:t/>
            </a:r>
            <a:endParaRPr sz="1800">
              <a:solidFill>
                <a:schemeClr val="dk1"/>
              </a:solidFill>
              <a:latin typeface="Economica"/>
              <a:ea typeface="Economica"/>
              <a:cs typeface="Economica"/>
              <a:sym typeface="Economica"/>
            </a:endParaRPr>
          </a:p>
          <a:p>
            <a:pPr indent="0" lvl="0" marL="0" rtl="0" algn="l">
              <a:spcBef>
                <a:spcPts val="0"/>
              </a:spcBef>
              <a:spcAft>
                <a:spcPts val="0"/>
              </a:spcAft>
              <a:buNone/>
            </a:pPr>
            <a:r>
              <a:rPr lang="de" sz="1800">
                <a:solidFill>
                  <a:schemeClr val="dk1"/>
                </a:solidFill>
                <a:latin typeface="Economica"/>
                <a:ea typeface="Economica"/>
                <a:cs typeface="Economica"/>
                <a:sym typeface="Economica"/>
              </a:rPr>
              <a:t>Logger Klasse</a:t>
            </a:r>
            <a:endParaRPr sz="1800">
              <a:solidFill>
                <a:schemeClr val="dk1"/>
              </a:solidFill>
              <a:latin typeface="Economica"/>
              <a:ea typeface="Economica"/>
              <a:cs typeface="Economica"/>
              <a:sym typeface="Economica"/>
            </a:endParaRPr>
          </a:p>
        </p:txBody>
      </p:sp>
      <p:pic>
        <p:nvPicPr>
          <p:cNvPr id="240" name="Google Shape;240;p32"/>
          <p:cNvPicPr preferRelativeResize="0"/>
          <p:nvPr/>
        </p:nvPicPr>
        <p:blipFill>
          <a:blip r:embed="rId3">
            <a:alphaModFix/>
          </a:blip>
          <a:stretch>
            <a:fillRect/>
          </a:stretch>
        </p:blipFill>
        <p:spPr>
          <a:xfrm>
            <a:off x="4982675" y="315924"/>
            <a:ext cx="2526400" cy="4406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de"/>
              <a:t>Open-Closed Principle</a:t>
            </a:r>
            <a:endParaRPr/>
          </a:p>
        </p:txBody>
      </p:sp>
      <p:sp>
        <p:nvSpPr>
          <p:cNvPr id="246" name="Google Shape;246;p3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e">
                <a:latin typeface="Economica"/>
                <a:ea typeface="Economica"/>
                <a:cs typeface="Economica"/>
                <a:sym typeface="Economica"/>
              </a:rPr>
              <a:t>Negativ Beispiel:</a:t>
            </a:r>
            <a:endParaRPr>
              <a:latin typeface="Economica"/>
              <a:ea typeface="Economica"/>
              <a:cs typeface="Economica"/>
              <a:sym typeface="Economica"/>
            </a:endParaRPr>
          </a:p>
        </p:txBody>
      </p:sp>
      <p:sp>
        <p:nvSpPr>
          <p:cNvPr id="247" name="Google Shape;247;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48" name="Google Shape;248;p33"/>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249" name="Google Shape;249;p33"/>
          <p:cNvPicPr preferRelativeResize="0"/>
          <p:nvPr/>
        </p:nvPicPr>
        <p:blipFill>
          <a:blip r:embed="rId3">
            <a:alphaModFix/>
          </a:blip>
          <a:stretch>
            <a:fillRect/>
          </a:stretch>
        </p:blipFill>
        <p:spPr>
          <a:xfrm>
            <a:off x="311700" y="1862125"/>
            <a:ext cx="3371850" cy="1419225"/>
          </a:xfrm>
          <a:prstGeom prst="rect">
            <a:avLst/>
          </a:prstGeom>
          <a:noFill/>
          <a:ln>
            <a:noFill/>
          </a:ln>
        </p:spPr>
      </p:pic>
      <p:pic>
        <p:nvPicPr>
          <p:cNvPr id="250" name="Google Shape;250;p33"/>
          <p:cNvPicPr preferRelativeResize="0"/>
          <p:nvPr/>
        </p:nvPicPr>
        <p:blipFill>
          <a:blip r:embed="rId4">
            <a:alphaModFix/>
          </a:blip>
          <a:stretch>
            <a:fillRect/>
          </a:stretch>
        </p:blipFill>
        <p:spPr>
          <a:xfrm>
            <a:off x="4043822" y="1114662"/>
            <a:ext cx="4665500" cy="3575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Dependency Inversion Principle</a:t>
            </a:r>
            <a:endParaRPr/>
          </a:p>
        </p:txBody>
      </p:sp>
      <p:sp>
        <p:nvSpPr>
          <p:cNvPr id="256" name="Google Shape;256;p3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e">
                <a:latin typeface="Economica"/>
                <a:ea typeface="Economica"/>
                <a:cs typeface="Economica"/>
                <a:sym typeface="Economica"/>
              </a:rPr>
              <a:t>Positiv</a:t>
            </a:r>
            <a:r>
              <a:rPr lang="de">
                <a:latin typeface="Economica"/>
                <a:ea typeface="Economica"/>
                <a:cs typeface="Economica"/>
                <a:sym typeface="Economica"/>
              </a:rPr>
              <a:t> Beispiel:</a:t>
            </a:r>
            <a:endParaRPr>
              <a:latin typeface="Economica"/>
              <a:ea typeface="Economica"/>
              <a:cs typeface="Economica"/>
              <a:sym typeface="Economica"/>
            </a:endParaRPr>
          </a:p>
        </p:txBody>
      </p:sp>
      <p:sp>
        <p:nvSpPr>
          <p:cNvPr id="257" name="Google Shape;25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58" name="Google Shape;258;p34"/>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259" name="Google Shape;259;p34"/>
          <p:cNvPicPr preferRelativeResize="0"/>
          <p:nvPr/>
        </p:nvPicPr>
        <p:blipFill>
          <a:blip r:embed="rId3">
            <a:alphaModFix/>
          </a:blip>
          <a:stretch>
            <a:fillRect/>
          </a:stretch>
        </p:blipFill>
        <p:spPr>
          <a:xfrm>
            <a:off x="3013138" y="1102000"/>
            <a:ext cx="4848225" cy="3600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Dependency Inversion Principle</a:t>
            </a:r>
            <a:endParaRPr/>
          </a:p>
        </p:txBody>
      </p:sp>
      <p:sp>
        <p:nvSpPr>
          <p:cNvPr id="265" name="Google Shape;265;p3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e">
                <a:latin typeface="Economica"/>
                <a:ea typeface="Economica"/>
                <a:cs typeface="Economica"/>
                <a:sym typeface="Economica"/>
              </a:rPr>
              <a:t>Negativ Beispiel:</a:t>
            </a:r>
            <a:endParaRPr>
              <a:latin typeface="Economica"/>
              <a:ea typeface="Economica"/>
              <a:cs typeface="Economica"/>
              <a:sym typeface="Economica"/>
            </a:endParaRPr>
          </a:p>
        </p:txBody>
      </p:sp>
      <p:sp>
        <p:nvSpPr>
          <p:cNvPr id="266" name="Google Shape;26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67" name="Google Shape;267;p35"/>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268" name="Google Shape;268;p35"/>
          <p:cNvPicPr preferRelativeResize="0"/>
          <p:nvPr/>
        </p:nvPicPr>
        <p:blipFill>
          <a:blip r:embed="rId3">
            <a:alphaModFix/>
          </a:blip>
          <a:stretch>
            <a:fillRect/>
          </a:stretch>
        </p:blipFill>
        <p:spPr>
          <a:xfrm>
            <a:off x="1702675" y="1225225"/>
            <a:ext cx="6863326" cy="343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Dependency Inversion Principle</a:t>
            </a:r>
            <a:endParaRPr/>
          </a:p>
        </p:txBody>
      </p:sp>
      <p:sp>
        <p:nvSpPr>
          <p:cNvPr id="274" name="Google Shape;274;p3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e">
                <a:latin typeface="Economica"/>
                <a:ea typeface="Economica"/>
                <a:cs typeface="Economica"/>
                <a:sym typeface="Economica"/>
              </a:rPr>
              <a:t>Besser wäre:</a:t>
            </a:r>
            <a:endParaRPr>
              <a:latin typeface="Economica"/>
              <a:ea typeface="Economica"/>
              <a:cs typeface="Economica"/>
              <a:sym typeface="Economica"/>
            </a:endParaRPr>
          </a:p>
        </p:txBody>
      </p:sp>
      <p:sp>
        <p:nvSpPr>
          <p:cNvPr id="275" name="Google Shape;27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76" name="Google Shape;276;p36"/>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277" name="Google Shape;277;p36"/>
          <p:cNvPicPr preferRelativeResize="0"/>
          <p:nvPr/>
        </p:nvPicPr>
        <p:blipFill>
          <a:blip r:embed="rId3">
            <a:alphaModFix/>
          </a:blip>
          <a:stretch>
            <a:fillRect/>
          </a:stretch>
        </p:blipFill>
        <p:spPr>
          <a:xfrm>
            <a:off x="2127075" y="1077250"/>
            <a:ext cx="5386274" cy="38751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7"/>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Weitere Prinzipien</a:t>
            </a:r>
            <a:endParaRPr/>
          </a:p>
        </p:txBody>
      </p:sp>
      <p:sp>
        <p:nvSpPr>
          <p:cNvPr id="283" name="Google Shape;283;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84" name="Google Shape;284;p37"/>
          <p:cNvSpPr txBox="1"/>
          <p:nvPr>
            <p:ph idx="2" type="sldNum"/>
          </p:nvPr>
        </p:nvSpPr>
        <p:spPr>
          <a:xfrm>
            <a:off x="311684" y="4663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GRASP: geringe Kopplung</a:t>
            </a:r>
            <a:endParaRPr/>
          </a:p>
        </p:txBody>
      </p:sp>
      <p:sp>
        <p:nvSpPr>
          <p:cNvPr id="290" name="Google Shape;290;p3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Klasse Dice:</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Aufgabe: Zufällige Ganzzahl zw. 1 und 6 zurückgeben</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Hat keine Abhängigkeiten</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Nur Game Klasse benutzt Dice</a:t>
            </a:r>
            <a:endParaRPr>
              <a:latin typeface="Economica"/>
              <a:ea typeface="Economica"/>
              <a:cs typeface="Economica"/>
              <a:sym typeface="Economica"/>
            </a:endParaRPr>
          </a:p>
          <a:p>
            <a:pPr indent="0" lvl="0" marL="0" rtl="0" algn="l">
              <a:spcBef>
                <a:spcPts val="1200"/>
              </a:spcBef>
              <a:spcAft>
                <a:spcPts val="0"/>
              </a:spcAft>
              <a:buNone/>
            </a:pPr>
            <a:r>
              <a:t/>
            </a:r>
            <a:endParaRPr sz="1400">
              <a:latin typeface="Economica"/>
              <a:ea typeface="Economica"/>
              <a:cs typeface="Economica"/>
              <a:sym typeface="Economica"/>
            </a:endParaRPr>
          </a:p>
          <a:p>
            <a:pPr indent="0" lvl="0" marL="0" rtl="0" algn="l">
              <a:spcBef>
                <a:spcPts val="1200"/>
              </a:spcBef>
              <a:spcAft>
                <a:spcPts val="0"/>
              </a:spcAft>
              <a:buNone/>
            </a:pPr>
            <a:r>
              <a:t/>
            </a:r>
            <a:endParaRPr sz="1400">
              <a:latin typeface="Economica"/>
              <a:ea typeface="Economica"/>
              <a:cs typeface="Economica"/>
              <a:sym typeface="Economica"/>
            </a:endParaRPr>
          </a:p>
          <a:p>
            <a:pPr indent="0" lvl="0" marL="0" rtl="0" algn="l">
              <a:spcBef>
                <a:spcPts val="1200"/>
              </a:spcBef>
              <a:spcAft>
                <a:spcPts val="0"/>
              </a:spcAft>
              <a:buNone/>
            </a:pPr>
            <a:r>
              <a:t/>
            </a:r>
            <a:endParaRPr sz="1400">
              <a:latin typeface="Economica"/>
              <a:ea typeface="Economica"/>
              <a:cs typeface="Economica"/>
              <a:sym typeface="Economica"/>
            </a:endParaRPr>
          </a:p>
          <a:p>
            <a:pPr indent="0" lvl="0" marL="0" rtl="0" algn="l">
              <a:spcBef>
                <a:spcPts val="1200"/>
              </a:spcBef>
              <a:spcAft>
                <a:spcPts val="1200"/>
              </a:spcAft>
              <a:buNone/>
            </a:pPr>
            <a:r>
              <a:t/>
            </a:r>
            <a:endParaRPr sz="1400">
              <a:latin typeface="Economica"/>
              <a:ea typeface="Economica"/>
              <a:cs typeface="Economica"/>
              <a:sym typeface="Economica"/>
            </a:endParaRPr>
          </a:p>
        </p:txBody>
      </p:sp>
      <p:sp>
        <p:nvSpPr>
          <p:cNvPr id="291" name="Google Shape;291;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92" name="Google Shape;292;p38"/>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293" name="Google Shape;293;p38"/>
          <p:cNvPicPr preferRelativeResize="0"/>
          <p:nvPr/>
        </p:nvPicPr>
        <p:blipFill>
          <a:blip r:embed="rId3">
            <a:alphaModFix/>
          </a:blip>
          <a:stretch>
            <a:fillRect/>
          </a:stretch>
        </p:blipFill>
        <p:spPr>
          <a:xfrm>
            <a:off x="6749663" y="1473475"/>
            <a:ext cx="1552575" cy="2857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CpuPlayer als Mutterklasse</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SelectMove() als abstrakte Methode</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CpuPlayer definiert nur SelectMove()</a:t>
            </a:r>
            <a:endParaRPr>
              <a:latin typeface="Economica"/>
              <a:ea typeface="Economica"/>
              <a:cs typeface="Economica"/>
              <a:sym typeface="Economica"/>
            </a:endParaRPr>
          </a:p>
          <a:p>
            <a:pPr indent="0" lvl="0" marL="0" rtl="0" algn="l">
              <a:spcBef>
                <a:spcPts val="1200"/>
              </a:spcBef>
              <a:spcAft>
                <a:spcPts val="0"/>
              </a:spcAft>
              <a:buNone/>
            </a:pPr>
            <a:r>
              <a:t/>
            </a:r>
            <a:endParaRPr>
              <a:latin typeface="Economica"/>
              <a:ea typeface="Economica"/>
              <a:cs typeface="Economica"/>
              <a:sym typeface="Economica"/>
            </a:endParaRPr>
          </a:p>
          <a:p>
            <a:pPr indent="0" lvl="0" marL="0" rtl="0" algn="l">
              <a:spcBef>
                <a:spcPts val="1200"/>
              </a:spcBef>
              <a:spcAft>
                <a:spcPts val="0"/>
              </a:spcAft>
              <a:buNone/>
            </a:pPr>
            <a:r>
              <a:t/>
            </a:r>
            <a:endParaRPr>
              <a:latin typeface="Economica"/>
              <a:ea typeface="Economica"/>
              <a:cs typeface="Economica"/>
              <a:sym typeface="Economica"/>
            </a:endParaRPr>
          </a:p>
          <a:p>
            <a:pPr indent="0" lvl="0" marL="0" rtl="0" algn="l">
              <a:spcBef>
                <a:spcPts val="1200"/>
              </a:spcBef>
              <a:spcAft>
                <a:spcPts val="0"/>
              </a:spcAft>
              <a:buNone/>
            </a:pPr>
            <a:r>
              <a:t/>
            </a:r>
            <a:endParaRPr>
              <a:latin typeface="Economica"/>
              <a:ea typeface="Economica"/>
              <a:cs typeface="Economica"/>
              <a:sym typeface="Economica"/>
            </a:endParaRPr>
          </a:p>
          <a:p>
            <a:pPr indent="0" lvl="0" marL="0" rtl="0" algn="l">
              <a:spcBef>
                <a:spcPts val="1200"/>
              </a:spcBef>
              <a:spcAft>
                <a:spcPts val="1200"/>
              </a:spcAft>
              <a:buNone/>
            </a:pPr>
            <a:r>
              <a:rPr lang="de">
                <a:latin typeface="Economica"/>
                <a:ea typeface="Economica"/>
                <a:cs typeface="Economica"/>
                <a:sym typeface="Economica"/>
              </a:rPr>
              <a:t>Warum? → High Cohesion &amp; Information Expert</a:t>
            </a:r>
            <a:endParaRPr>
              <a:latin typeface="Economica"/>
              <a:ea typeface="Economica"/>
              <a:cs typeface="Economica"/>
              <a:sym typeface="Economica"/>
            </a:endParaRPr>
          </a:p>
        </p:txBody>
      </p:sp>
      <p:sp>
        <p:nvSpPr>
          <p:cNvPr id="299" name="Google Shape;299;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GRASP: Polymorphismus</a:t>
            </a:r>
            <a:endParaRPr/>
          </a:p>
        </p:txBody>
      </p:sp>
      <p:sp>
        <p:nvSpPr>
          <p:cNvPr id="300" name="Google Shape;300;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01" name="Google Shape;301;p39"/>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302" name="Google Shape;302;p39"/>
          <p:cNvPicPr preferRelativeResize="0"/>
          <p:nvPr/>
        </p:nvPicPr>
        <p:blipFill>
          <a:blip r:embed="rId3">
            <a:alphaModFix/>
          </a:blip>
          <a:stretch>
            <a:fillRect/>
          </a:stretch>
        </p:blipFill>
        <p:spPr>
          <a:xfrm>
            <a:off x="3531475" y="1995900"/>
            <a:ext cx="5228099" cy="1566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DRY</a:t>
            </a:r>
            <a:endParaRPr/>
          </a:p>
        </p:txBody>
      </p:sp>
      <p:sp>
        <p:nvSpPr>
          <p:cNvPr id="308" name="Google Shape;308;p40"/>
          <p:cNvSpPr txBox="1"/>
          <p:nvPr>
            <p:ph idx="1" type="body"/>
          </p:nvPr>
        </p:nvSpPr>
        <p:spPr>
          <a:xfrm>
            <a:off x="5216888" y="4187025"/>
            <a:ext cx="3605400" cy="536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440"/>
              <a:buNone/>
            </a:pPr>
            <a:r>
              <a:rPr lang="de" sz="1400" u="sng">
                <a:solidFill>
                  <a:schemeClr val="hlink"/>
                </a:solidFill>
                <a:latin typeface="Economica"/>
                <a:ea typeface="Economica"/>
                <a:cs typeface="Economica"/>
                <a:sym typeface="Economica"/>
                <a:hlinkClick r:id="rId3"/>
              </a:rPr>
              <a:t>https://github.com/denmasch/Mensch-aergere-dich-nicht/commit/79358605aa56c167d0245e306084b0f9ade901c3</a:t>
            </a:r>
            <a:endParaRPr sz="1400">
              <a:latin typeface="Economica"/>
              <a:ea typeface="Economica"/>
              <a:cs typeface="Economica"/>
              <a:sym typeface="Economica"/>
            </a:endParaRPr>
          </a:p>
          <a:p>
            <a:pPr indent="0" lvl="0" marL="0" rtl="0" algn="l">
              <a:lnSpc>
                <a:spcPct val="95000"/>
              </a:lnSpc>
              <a:spcBef>
                <a:spcPts val="1200"/>
              </a:spcBef>
              <a:spcAft>
                <a:spcPts val="1200"/>
              </a:spcAft>
              <a:buSzPts val="440"/>
              <a:buNone/>
            </a:pPr>
            <a:r>
              <a:t/>
            </a:r>
            <a:endParaRPr sz="720">
              <a:latin typeface="Economica"/>
              <a:ea typeface="Economica"/>
              <a:cs typeface="Economica"/>
              <a:sym typeface="Economica"/>
            </a:endParaRPr>
          </a:p>
        </p:txBody>
      </p:sp>
      <p:sp>
        <p:nvSpPr>
          <p:cNvPr id="309" name="Google Shape;30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10" name="Google Shape;310;p40"/>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
        <p:nvSpPr>
          <p:cNvPr id="311" name="Google Shape;311;p40"/>
          <p:cNvSpPr txBox="1"/>
          <p:nvPr/>
        </p:nvSpPr>
        <p:spPr>
          <a:xfrm>
            <a:off x="311700" y="2496800"/>
            <a:ext cx="85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800">
                <a:solidFill>
                  <a:schemeClr val="dk1"/>
                </a:solidFill>
                <a:latin typeface="Economica"/>
                <a:ea typeface="Economica"/>
                <a:cs typeface="Economica"/>
                <a:sym typeface="Economica"/>
              </a:rPr>
              <a:t>Vorher:</a:t>
            </a:r>
            <a:endParaRPr sz="1800">
              <a:solidFill>
                <a:schemeClr val="dk1"/>
              </a:solidFill>
              <a:latin typeface="Economica"/>
              <a:ea typeface="Economica"/>
              <a:cs typeface="Economica"/>
              <a:sym typeface="Economica"/>
            </a:endParaRPr>
          </a:p>
        </p:txBody>
      </p:sp>
      <p:pic>
        <p:nvPicPr>
          <p:cNvPr id="312" name="Google Shape;312;p40"/>
          <p:cNvPicPr preferRelativeResize="0"/>
          <p:nvPr/>
        </p:nvPicPr>
        <p:blipFill>
          <a:blip r:embed="rId4">
            <a:alphaModFix/>
          </a:blip>
          <a:stretch>
            <a:fillRect/>
          </a:stretch>
        </p:blipFill>
        <p:spPr>
          <a:xfrm>
            <a:off x="1453025" y="1147225"/>
            <a:ext cx="2528000" cy="3851225"/>
          </a:xfrm>
          <a:prstGeom prst="rect">
            <a:avLst/>
          </a:prstGeom>
          <a:noFill/>
          <a:ln>
            <a:noFill/>
          </a:ln>
        </p:spPr>
      </p:pic>
      <p:sp>
        <p:nvSpPr>
          <p:cNvPr id="313" name="Google Shape;313;p40"/>
          <p:cNvSpPr txBox="1"/>
          <p:nvPr/>
        </p:nvSpPr>
        <p:spPr>
          <a:xfrm>
            <a:off x="4334100" y="2496800"/>
            <a:ext cx="85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800">
                <a:solidFill>
                  <a:schemeClr val="dk1"/>
                </a:solidFill>
                <a:latin typeface="Economica"/>
                <a:ea typeface="Economica"/>
                <a:cs typeface="Economica"/>
                <a:sym typeface="Economica"/>
              </a:rPr>
              <a:t>Nachher</a:t>
            </a:r>
            <a:r>
              <a:rPr lang="de" sz="1800">
                <a:solidFill>
                  <a:schemeClr val="dk1"/>
                </a:solidFill>
                <a:latin typeface="Economica"/>
                <a:ea typeface="Economica"/>
                <a:cs typeface="Economica"/>
                <a:sym typeface="Economica"/>
              </a:rPr>
              <a:t>:</a:t>
            </a:r>
            <a:endParaRPr sz="1800">
              <a:solidFill>
                <a:schemeClr val="dk1"/>
              </a:solidFill>
              <a:latin typeface="Economica"/>
              <a:ea typeface="Economica"/>
              <a:cs typeface="Economica"/>
              <a:sym typeface="Economica"/>
            </a:endParaRPr>
          </a:p>
        </p:txBody>
      </p:sp>
      <p:pic>
        <p:nvPicPr>
          <p:cNvPr id="314" name="Google Shape;314;p40"/>
          <p:cNvPicPr preferRelativeResize="0"/>
          <p:nvPr/>
        </p:nvPicPr>
        <p:blipFill>
          <a:blip r:embed="rId5">
            <a:alphaModFix/>
          </a:blip>
          <a:stretch>
            <a:fillRect/>
          </a:stretch>
        </p:blipFill>
        <p:spPr>
          <a:xfrm>
            <a:off x="5382850" y="1469649"/>
            <a:ext cx="3273475" cy="2516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1"/>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Unit Tests</a:t>
            </a:r>
            <a:endParaRPr/>
          </a:p>
        </p:txBody>
      </p:sp>
      <p:sp>
        <p:nvSpPr>
          <p:cNvPr id="320" name="Google Shape;32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21" name="Google Shape;321;p41"/>
          <p:cNvSpPr txBox="1"/>
          <p:nvPr>
            <p:ph idx="2" type="sldNum"/>
          </p:nvPr>
        </p:nvSpPr>
        <p:spPr>
          <a:xfrm>
            <a:off x="311684" y="4663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1</a:t>
            </a:r>
            <a:endParaRPr/>
          </a:p>
        </p:txBody>
      </p:sp>
      <p:sp>
        <p:nvSpPr>
          <p:cNvPr id="327" name="Google Shape;327;p4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28" name="Google Shape;328;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29" name="Google Shape;329;p42"/>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330" name="Google Shape;330;p42"/>
          <p:cNvPicPr preferRelativeResize="0"/>
          <p:nvPr/>
        </p:nvPicPr>
        <p:blipFill>
          <a:blip r:embed="rId3">
            <a:alphaModFix/>
          </a:blip>
          <a:stretch>
            <a:fillRect/>
          </a:stretch>
        </p:blipFill>
        <p:spPr>
          <a:xfrm>
            <a:off x="311700" y="1218536"/>
            <a:ext cx="7234437" cy="3405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2</a:t>
            </a:r>
            <a:endParaRPr/>
          </a:p>
        </p:txBody>
      </p:sp>
      <p:sp>
        <p:nvSpPr>
          <p:cNvPr id="336" name="Google Shape;336;p4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37" name="Google Shape;33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38" name="Google Shape;338;p43"/>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339" name="Google Shape;339;p43"/>
          <p:cNvPicPr preferRelativeResize="0"/>
          <p:nvPr/>
        </p:nvPicPr>
        <p:blipFill>
          <a:blip r:embed="rId3">
            <a:alphaModFix/>
          </a:blip>
          <a:stretch>
            <a:fillRect/>
          </a:stretch>
        </p:blipFill>
        <p:spPr>
          <a:xfrm>
            <a:off x="1753186" y="1018702"/>
            <a:ext cx="5637624" cy="3838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3</a:t>
            </a:r>
            <a:endParaRPr/>
          </a:p>
        </p:txBody>
      </p:sp>
      <p:sp>
        <p:nvSpPr>
          <p:cNvPr id="345" name="Google Shape;345;p4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46" name="Google Shape;34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47" name="Google Shape;347;p44"/>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348" name="Google Shape;348;p44"/>
          <p:cNvPicPr preferRelativeResize="0"/>
          <p:nvPr/>
        </p:nvPicPr>
        <p:blipFill>
          <a:blip r:embed="rId3">
            <a:alphaModFix/>
          </a:blip>
          <a:stretch>
            <a:fillRect/>
          </a:stretch>
        </p:blipFill>
        <p:spPr>
          <a:xfrm>
            <a:off x="280700" y="1225234"/>
            <a:ext cx="8520601" cy="321549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4</a:t>
            </a:r>
            <a:endParaRPr/>
          </a:p>
        </p:txBody>
      </p:sp>
      <p:sp>
        <p:nvSpPr>
          <p:cNvPr id="354" name="Google Shape;354;p4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55" name="Google Shape;35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56" name="Google Shape;356;p45"/>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357" name="Google Shape;357;p45"/>
          <p:cNvPicPr preferRelativeResize="0"/>
          <p:nvPr/>
        </p:nvPicPr>
        <p:blipFill>
          <a:blip r:embed="rId3">
            <a:alphaModFix/>
          </a:blip>
          <a:stretch>
            <a:fillRect/>
          </a:stretch>
        </p:blipFill>
        <p:spPr>
          <a:xfrm>
            <a:off x="361950" y="1252538"/>
            <a:ext cx="8420100" cy="26384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5</a:t>
            </a:r>
            <a:endParaRPr/>
          </a:p>
        </p:txBody>
      </p:sp>
      <p:sp>
        <p:nvSpPr>
          <p:cNvPr id="363" name="Google Shape;363;p4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64" name="Google Shape;364;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65" name="Google Shape;365;p46"/>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366" name="Google Shape;366;p46"/>
          <p:cNvPicPr preferRelativeResize="0"/>
          <p:nvPr/>
        </p:nvPicPr>
        <p:blipFill>
          <a:blip r:embed="rId3">
            <a:alphaModFix/>
          </a:blip>
          <a:stretch>
            <a:fillRect/>
          </a:stretch>
        </p:blipFill>
        <p:spPr>
          <a:xfrm>
            <a:off x="311700" y="1242874"/>
            <a:ext cx="7885379" cy="32771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6</a:t>
            </a:r>
            <a:endParaRPr/>
          </a:p>
        </p:txBody>
      </p:sp>
      <p:sp>
        <p:nvSpPr>
          <p:cNvPr id="372" name="Google Shape;372;p4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73" name="Google Shape;373;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74" name="Google Shape;374;p47"/>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375" name="Google Shape;375;p47"/>
          <p:cNvPicPr preferRelativeResize="0"/>
          <p:nvPr/>
        </p:nvPicPr>
        <p:blipFill>
          <a:blip r:embed="rId3">
            <a:alphaModFix/>
          </a:blip>
          <a:stretch>
            <a:fillRect/>
          </a:stretch>
        </p:blipFill>
        <p:spPr>
          <a:xfrm>
            <a:off x="311688" y="1171700"/>
            <a:ext cx="8467725" cy="34194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7</a:t>
            </a:r>
            <a:endParaRPr/>
          </a:p>
        </p:txBody>
      </p:sp>
      <p:sp>
        <p:nvSpPr>
          <p:cNvPr id="381" name="Google Shape;381;p4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82" name="Google Shape;382;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83" name="Google Shape;383;p48"/>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384" name="Google Shape;384;p48"/>
          <p:cNvPicPr preferRelativeResize="0"/>
          <p:nvPr/>
        </p:nvPicPr>
        <p:blipFill>
          <a:blip r:embed="rId3">
            <a:alphaModFix/>
          </a:blip>
          <a:stretch>
            <a:fillRect/>
          </a:stretch>
        </p:blipFill>
        <p:spPr>
          <a:xfrm>
            <a:off x="311700" y="1225218"/>
            <a:ext cx="8520600" cy="288898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8</a:t>
            </a:r>
            <a:endParaRPr/>
          </a:p>
        </p:txBody>
      </p:sp>
      <p:sp>
        <p:nvSpPr>
          <p:cNvPr id="390" name="Google Shape;390;p4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91" name="Google Shape;39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92" name="Google Shape;392;p49"/>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393" name="Google Shape;393;p49"/>
          <p:cNvPicPr preferRelativeResize="0"/>
          <p:nvPr/>
        </p:nvPicPr>
        <p:blipFill>
          <a:blip r:embed="rId3">
            <a:alphaModFix/>
          </a:blip>
          <a:stretch>
            <a:fillRect/>
          </a:stretch>
        </p:blipFill>
        <p:spPr>
          <a:xfrm>
            <a:off x="311700" y="1225226"/>
            <a:ext cx="8403599" cy="26175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9</a:t>
            </a:r>
            <a:endParaRPr/>
          </a:p>
        </p:txBody>
      </p:sp>
      <p:sp>
        <p:nvSpPr>
          <p:cNvPr id="399" name="Google Shape;399;p5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00" name="Google Shape;400;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01" name="Google Shape;401;p50"/>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02" name="Google Shape;402;p50"/>
          <p:cNvPicPr preferRelativeResize="0"/>
          <p:nvPr/>
        </p:nvPicPr>
        <p:blipFill>
          <a:blip r:embed="rId3">
            <a:alphaModFix/>
          </a:blip>
          <a:stretch>
            <a:fillRect/>
          </a:stretch>
        </p:blipFill>
        <p:spPr>
          <a:xfrm>
            <a:off x="311700" y="1225237"/>
            <a:ext cx="8520599" cy="240606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Unit Test 10</a:t>
            </a:r>
            <a:endParaRPr/>
          </a:p>
        </p:txBody>
      </p:sp>
      <p:sp>
        <p:nvSpPr>
          <p:cNvPr id="408" name="Google Shape;408;p5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09" name="Google Shape;409;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10" name="Google Shape;410;p51"/>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11" name="Google Shape;411;p51"/>
          <p:cNvPicPr preferRelativeResize="0"/>
          <p:nvPr/>
        </p:nvPicPr>
        <p:blipFill>
          <a:blip r:embed="rId3">
            <a:alphaModFix/>
          </a:blip>
          <a:stretch>
            <a:fillRect/>
          </a:stretch>
        </p:blipFill>
        <p:spPr>
          <a:xfrm>
            <a:off x="311700" y="1225225"/>
            <a:ext cx="7321274" cy="2463525"/>
          </a:xfrm>
          <a:prstGeom prst="rect">
            <a:avLst/>
          </a:prstGeom>
          <a:noFill/>
          <a:ln>
            <a:noFill/>
          </a:ln>
        </p:spPr>
      </p:pic>
      <p:pic>
        <p:nvPicPr>
          <p:cNvPr id="412" name="Google Shape;412;p51"/>
          <p:cNvPicPr preferRelativeResize="0"/>
          <p:nvPr/>
        </p:nvPicPr>
        <p:blipFill>
          <a:blip r:embed="rId4">
            <a:alphaModFix/>
          </a:blip>
          <a:stretch>
            <a:fillRect/>
          </a:stretch>
        </p:blipFill>
        <p:spPr>
          <a:xfrm>
            <a:off x="6697725" y="127875"/>
            <a:ext cx="2323425" cy="21116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ATRIP</a:t>
            </a:r>
            <a:endParaRPr/>
          </a:p>
        </p:txBody>
      </p:sp>
      <p:sp>
        <p:nvSpPr>
          <p:cNvPr id="418" name="Google Shape;418;p5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Automatic: Durch CI/CD Pipeline in Github gegeben</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Thorough:</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Nicht durchgehend umgesetzt</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24 Unit-Tests</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Missionskritische Funktionalitäten </a:t>
            </a:r>
            <a:r>
              <a:rPr b="1" lang="de">
                <a:latin typeface="Economica"/>
                <a:ea typeface="Economica"/>
                <a:cs typeface="Economica"/>
                <a:sym typeface="Economica"/>
              </a:rPr>
              <a:t>nicht alle </a:t>
            </a:r>
            <a:r>
              <a:rPr lang="de">
                <a:latin typeface="Economica"/>
                <a:ea typeface="Economica"/>
                <a:cs typeface="Economica"/>
                <a:sym typeface="Economica"/>
              </a:rPr>
              <a:t>abgedeckt, aber das Wichtigste</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Professional:</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Code ist leicht verständlich</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Test ist nur für relevante Teile</a:t>
            </a:r>
            <a:endParaRPr>
              <a:latin typeface="Economica"/>
              <a:ea typeface="Economica"/>
              <a:cs typeface="Economica"/>
              <a:sym typeface="Economica"/>
            </a:endParaRPr>
          </a:p>
        </p:txBody>
      </p:sp>
      <p:sp>
        <p:nvSpPr>
          <p:cNvPr id="419" name="Google Shape;419;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20" name="Google Shape;420;p52"/>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21" name="Google Shape;421;p52"/>
          <p:cNvPicPr preferRelativeResize="0"/>
          <p:nvPr/>
        </p:nvPicPr>
        <p:blipFill>
          <a:blip r:embed="rId3">
            <a:alphaModFix/>
          </a:blip>
          <a:stretch>
            <a:fillRect/>
          </a:stretch>
        </p:blipFill>
        <p:spPr>
          <a:xfrm>
            <a:off x="3587463" y="2965625"/>
            <a:ext cx="5305425" cy="12001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de"/>
              <a:t>Fakes und Mocks</a:t>
            </a:r>
            <a:endParaRPr/>
          </a:p>
        </p:txBody>
      </p:sp>
      <p:sp>
        <p:nvSpPr>
          <p:cNvPr id="427" name="Google Shape;427;p53"/>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28" name="Google Shape;428;p53"/>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29" name="Google Shape;429;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30" name="Google Shape;430;p53"/>
          <p:cNvSpPr txBox="1"/>
          <p:nvPr>
            <p:ph idx="3" type="sldNum"/>
          </p:nvPr>
        </p:nvSpPr>
        <p:spPr>
          <a:xfrm>
            <a:off x="311709" y="4657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31" name="Google Shape;431;p53"/>
          <p:cNvPicPr preferRelativeResize="0"/>
          <p:nvPr/>
        </p:nvPicPr>
        <p:blipFill>
          <a:blip r:embed="rId3">
            <a:alphaModFix/>
          </a:blip>
          <a:stretch>
            <a:fillRect/>
          </a:stretch>
        </p:blipFill>
        <p:spPr>
          <a:xfrm>
            <a:off x="1371150" y="1309225"/>
            <a:ext cx="6157872" cy="3354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de"/>
              <a:t>Fakes und Mocks</a:t>
            </a:r>
            <a:endParaRPr/>
          </a:p>
        </p:txBody>
      </p:sp>
      <p:sp>
        <p:nvSpPr>
          <p:cNvPr id="437" name="Google Shape;437;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38" name="Google Shape;438;p54"/>
          <p:cNvSpPr txBox="1"/>
          <p:nvPr>
            <p:ph idx="3" type="sldNum"/>
          </p:nvPr>
        </p:nvSpPr>
        <p:spPr>
          <a:xfrm>
            <a:off x="311709" y="4657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39" name="Google Shape;439;p54"/>
          <p:cNvPicPr preferRelativeResize="0"/>
          <p:nvPr/>
        </p:nvPicPr>
        <p:blipFill>
          <a:blip r:embed="rId3">
            <a:alphaModFix/>
          </a:blip>
          <a:stretch>
            <a:fillRect/>
          </a:stretch>
        </p:blipFill>
        <p:spPr>
          <a:xfrm>
            <a:off x="478875" y="1559200"/>
            <a:ext cx="8353425" cy="26860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Fakes und Mocks</a:t>
            </a:r>
            <a:endParaRPr/>
          </a:p>
        </p:txBody>
      </p:sp>
      <p:sp>
        <p:nvSpPr>
          <p:cNvPr id="445" name="Google Shape;445;p5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latin typeface="Economica"/>
              <a:ea typeface="Economica"/>
              <a:cs typeface="Economica"/>
              <a:sym typeface="Economica"/>
            </a:endParaRPr>
          </a:p>
        </p:txBody>
      </p:sp>
      <p:sp>
        <p:nvSpPr>
          <p:cNvPr id="446" name="Google Shape;446;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47" name="Google Shape;447;p55"/>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48" name="Google Shape;448;p55"/>
          <p:cNvPicPr preferRelativeResize="0"/>
          <p:nvPr/>
        </p:nvPicPr>
        <p:blipFill>
          <a:blip r:embed="rId3">
            <a:alphaModFix/>
          </a:blip>
          <a:stretch>
            <a:fillRect/>
          </a:stretch>
        </p:blipFill>
        <p:spPr>
          <a:xfrm>
            <a:off x="988863" y="1183224"/>
            <a:ext cx="7166280" cy="3438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6"/>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Domain</a:t>
            </a:r>
            <a:r>
              <a:rPr lang="de"/>
              <a:t> Driven Design</a:t>
            </a:r>
            <a:endParaRPr/>
          </a:p>
        </p:txBody>
      </p:sp>
      <p:sp>
        <p:nvSpPr>
          <p:cNvPr id="454" name="Google Shape;45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55" name="Google Shape;455;p56"/>
          <p:cNvSpPr txBox="1"/>
          <p:nvPr>
            <p:ph idx="2" type="sldNum"/>
          </p:nvPr>
        </p:nvSpPr>
        <p:spPr>
          <a:xfrm>
            <a:off x="311684" y="4663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Economica"/>
              <a:buChar char="●"/>
            </a:pPr>
            <a:r>
              <a:rPr b="1" lang="de" sz="2200">
                <a:latin typeface="Economica"/>
                <a:ea typeface="Economica"/>
                <a:cs typeface="Economica"/>
                <a:sym typeface="Economica"/>
              </a:rPr>
              <a:t>Tile:</a:t>
            </a:r>
            <a:r>
              <a:rPr lang="de" sz="2200">
                <a:latin typeface="Economica"/>
                <a:ea typeface="Economica"/>
                <a:cs typeface="Economica"/>
                <a:sym typeface="Economica"/>
              </a:rPr>
              <a:t> (betretbares) Spielfeld-Rechteck</a:t>
            </a:r>
            <a:endParaRPr sz="2200">
              <a:latin typeface="Economica"/>
              <a:ea typeface="Economica"/>
              <a:cs typeface="Economica"/>
              <a:sym typeface="Economica"/>
            </a:endParaRPr>
          </a:p>
          <a:p>
            <a:pPr indent="-368300" lvl="0" marL="457200" rtl="0" algn="l">
              <a:spcBef>
                <a:spcPts val="0"/>
              </a:spcBef>
              <a:spcAft>
                <a:spcPts val="0"/>
              </a:spcAft>
              <a:buSzPts val="2200"/>
              <a:buFont typeface="Economica"/>
              <a:buChar char="●"/>
            </a:pPr>
            <a:r>
              <a:rPr b="1" lang="de" sz="2200">
                <a:latin typeface="Economica"/>
                <a:ea typeface="Economica"/>
                <a:cs typeface="Economica"/>
                <a:sym typeface="Economica"/>
              </a:rPr>
              <a:t>Home Tile:</a:t>
            </a:r>
            <a:r>
              <a:rPr lang="de" sz="2200">
                <a:latin typeface="Economica"/>
                <a:ea typeface="Economica"/>
                <a:cs typeface="Economica"/>
                <a:sym typeface="Economica"/>
              </a:rPr>
              <a:t> Felder auf denen die Figuren starten </a:t>
            </a:r>
            <a:endParaRPr sz="2200">
              <a:latin typeface="Economica"/>
              <a:ea typeface="Economica"/>
              <a:cs typeface="Economica"/>
              <a:sym typeface="Economica"/>
            </a:endParaRPr>
          </a:p>
          <a:p>
            <a:pPr indent="-368300" lvl="0" marL="457200" rtl="0" algn="l">
              <a:spcBef>
                <a:spcPts val="0"/>
              </a:spcBef>
              <a:spcAft>
                <a:spcPts val="0"/>
              </a:spcAft>
              <a:buSzPts val="2200"/>
              <a:buFont typeface="Economica"/>
              <a:buChar char="●"/>
            </a:pPr>
            <a:r>
              <a:rPr b="1" lang="de" sz="2200">
                <a:latin typeface="Economica"/>
                <a:ea typeface="Economica"/>
                <a:cs typeface="Economica"/>
                <a:sym typeface="Economica"/>
              </a:rPr>
              <a:t>Start Tile: </a:t>
            </a:r>
            <a:r>
              <a:rPr lang="de" sz="2200">
                <a:latin typeface="Economica"/>
                <a:ea typeface="Economica"/>
                <a:cs typeface="Economica"/>
                <a:sym typeface="Economica"/>
              </a:rPr>
              <a:t>Feld auf dem die Figuren aus dem Home Tile </a:t>
            </a:r>
            <a:br>
              <a:rPr lang="de" sz="2200">
                <a:latin typeface="Economica"/>
                <a:ea typeface="Economica"/>
                <a:cs typeface="Economica"/>
                <a:sym typeface="Economica"/>
              </a:rPr>
            </a:br>
            <a:r>
              <a:rPr lang="de" sz="2200">
                <a:latin typeface="Economica"/>
                <a:ea typeface="Economica"/>
                <a:cs typeface="Economica"/>
                <a:sym typeface="Economica"/>
              </a:rPr>
              <a:t>herauskommen</a:t>
            </a:r>
            <a:endParaRPr sz="2200">
              <a:latin typeface="Economica"/>
              <a:ea typeface="Economica"/>
              <a:cs typeface="Economica"/>
              <a:sym typeface="Economica"/>
            </a:endParaRPr>
          </a:p>
          <a:p>
            <a:pPr indent="-368300" lvl="0" marL="457200" rtl="0" algn="l">
              <a:spcBef>
                <a:spcPts val="0"/>
              </a:spcBef>
              <a:spcAft>
                <a:spcPts val="0"/>
              </a:spcAft>
              <a:buSzPts val="2200"/>
              <a:buFont typeface="Economica"/>
              <a:buChar char="●"/>
            </a:pPr>
            <a:r>
              <a:rPr b="1" lang="de" sz="2200">
                <a:latin typeface="Economica"/>
                <a:ea typeface="Economica"/>
                <a:cs typeface="Economica"/>
                <a:sym typeface="Economica"/>
              </a:rPr>
              <a:t>Target Tile:</a:t>
            </a:r>
            <a:r>
              <a:rPr lang="de" sz="2200">
                <a:latin typeface="Economica"/>
                <a:ea typeface="Economica"/>
                <a:cs typeface="Economica"/>
                <a:sym typeface="Economica"/>
              </a:rPr>
              <a:t> Ziel-Felder für jeweiligen Figuren</a:t>
            </a:r>
            <a:endParaRPr sz="2200">
              <a:latin typeface="Economica"/>
              <a:ea typeface="Economica"/>
              <a:cs typeface="Economica"/>
              <a:sym typeface="Economica"/>
            </a:endParaRPr>
          </a:p>
          <a:p>
            <a:pPr indent="0" lvl="0" marL="0" rtl="0" algn="l">
              <a:spcBef>
                <a:spcPts val="1200"/>
              </a:spcBef>
              <a:spcAft>
                <a:spcPts val="0"/>
              </a:spcAft>
              <a:buNone/>
            </a:pPr>
            <a:r>
              <a:t/>
            </a:r>
            <a:endParaRPr sz="2200">
              <a:latin typeface="Economica"/>
              <a:ea typeface="Economica"/>
              <a:cs typeface="Economica"/>
              <a:sym typeface="Economica"/>
            </a:endParaRPr>
          </a:p>
          <a:p>
            <a:pPr indent="0" lvl="0" marL="0" rtl="0" algn="l">
              <a:spcBef>
                <a:spcPts val="1200"/>
              </a:spcBef>
              <a:spcAft>
                <a:spcPts val="1200"/>
              </a:spcAft>
              <a:buNone/>
            </a:pPr>
            <a:r>
              <a:rPr lang="de" sz="2200">
                <a:latin typeface="Economica"/>
                <a:ea typeface="Economica"/>
                <a:cs typeface="Economica"/>
                <a:sym typeface="Economica"/>
              </a:rPr>
              <a:t>Warum? -&gt; Einheitlich Verständigung</a:t>
            </a:r>
            <a:endParaRPr sz="2200">
              <a:latin typeface="Economica"/>
              <a:ea typeface="Economica"/>
              <a:cs typeface="Economica"/>
              <a:sym typeface="Economica"/>
            </a:endParaRPr>
          </a:p>
        </p:txBody>
      </p:sp>
      <p:sp>
        <p:nvSpPr>
          <p:cNvPr id="461" name="Google Shape;461;p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Ubiquitous Language</a:t>
            </a:r>
            <a:endParaRPr/>
          </a:p>
        </p:txBody>
      </p:sp>
      <p:sp>
        <p:nvSpPr>
          <p:cNvPr id="462" name="Google Shape;462;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63" name="Google Shape;463;p57"/>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64" name="Google Shape;464;p57"/>
          <p:cNvPicPr preferRelativeResize="0"/>
          <p:nvPr/>
        </p:nvPicPr>
        <p:blipFill>
          <a:blip r:embed="rId3">
            <a:alphaModFix/>
          </a:blip>
          <a:stretch>
            <a:fillRect/>
          </a:stretch>
        </p:blipFill>
        <p:spPr>
          <a:xfrm>
            <a:off x="5845725" y="1492725"/>
            <a:ext cx="3039600" cy="27625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Repositories</a:t>
            </a:r>
            <a:endParaRPr/>
          </a:p>
        </p:txBody>
      </p:sp>
      <p:sp>
        <p:nvSpPr>
          <p:cNvPr id="470" name="Google Shape;470;p5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StatsService speichert MatchStats als Json</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GetStoredMatches() gibt gespeicherte Matches aus</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Client bekommt StoredMatches über MessageDispatcher</a:t>
            </a:r>
            <a:endParaRPr>
              <a:latin typeface="Economica"/>
              <a:ea typeface="Economica"/>
              <a:cs typeface="Economica"/>
              <a:sym typeface="Economica"/>
            </a:endParaRPr>
          </a:p>
          <a:p>
            <a:pPr indent="0" lvl="0" marL="0" rtl="0" algn="l">
              <a:spcBef>
                <a:spcPts val="1200"/>
              </a:spcBef>
              <a:spcAft>
                <a:spcPts val="0"/>
              </a:spcAft>
              <a:buNone/>
            </a:pPr>
            <a:r>
              <a:t/>
            </a:r>
            <a:endParaRPr>
              <a:latin typeface="Economica"/>
              <a:ea typeface="Economica"/>
              <a:cs typeface="Economica"/>
              <a:sym typeface="Economica"/>
            </a:endParaRPr>
          </a:p>
          <a:p>
            <a:pPr indent="0" lvl="0" marL="0" rtl="0" algn="l">
              <a:spcBef>
                <a:spcPts val="1200"/>
              </a:spcBef>
              <a:spcAft>
                <a:spcPts val="0"/>
              </a:spcAft>
              <a:buNone/>
            </a:pPr>
            <a:r>
              <a:t/>
            </a:r>
            <a:endParaRPr>
              <a:latin typeface="Economica"/>
              <a:ea typeface="Economica"/>
              <a:cs typeface="Economica"/>
              <a:sym typeface="Economica"/>
            </a:endParaRPr>
          </a:p>
          <a:p>
            <a:pPr indent="0" lvl="0" marL="0" rtl="0" algn="l">
              <a:spcBef>
                <a:spcPts val="1200"/>
              </a:spcBef>
              <a:spcAft>
                <a:spcPts val="1200"/>
              </a:spcAft>
              <a:buNone/>
            </a:pPr>
            <a:r>
              <a:rPr lang="de">
                <a:latin typeface="Economica"/>
                <a:ea typeface="Economica"/>
                <a:cs typeface="Economica"/>
                <a:sym typeface="Economica"/>
              </a:rPr>
              <a:t>Warum? → persistente Speicherung</a:t>
            </a:r>
            <a:br>
              <a:rPr lang="de">
                <a:latin typeface="Economica"/>
                <a:ea typeface="Economica"/>
                <a:cs typeface="Economica"/>
                <a:sym typeface="Economica"/>
              </a:rPr>
            </a:br>
            <a:r>
              <a:rPr lang="de">
                <a:latin typeface="Economica"/>
                <a:ea typeface="Economica"/>
                <a:cs typeface="Economica"/>
                <a:sym typeface="Economica"/>
              </a:rPr>
              <a:t>		von MatchStats &amp; </a:t>
            </a:r>
            <a:br>
              <a:rPr lang="de">
                <a:latin typeface="Economica"/>
                <a:ea typeface="Economica"/>
                <a:cs typeface="Economica"/>
                <a:sym typeface="Economica"/>
              </a:rPr>
            </a:br>
            <a:r>
              <a:rPr lang="de">
                <a:latin typeface="Economica"/>
                <a:ea typeface="Economica"/>
                <a:cs typeface="Economica"/>
                <a:sym typeface="Economica"/>
              </a:rPr>
              <a:t>		Abfrage als Client</a:t>
            </a:r>
            <a:endParaRPr>
              <a:latin typeface="Economica"/>
              <a:ea typeface="Economica"/>
              <a:cs typeface="Economica"/>
              <a:sym typeface="Economica"/>
            </a:endParaRPr>
          </a:p>
        </p:txBody>
      </p:sp>
      <p:sp>
        <p:nvSpPr>
          <p:cNvPr id="471" name="Google Shape;471;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72" name="Google Shape;472;p58"/>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73" name="Google Shape;473;p58"/>
          <p:cNvPicPr preferRelativeResize="0"/>
          <p:nvPr/>
        </p:nvPicPr>
        <p:blipFill>
          <a:blip r:embed="rId3">
            <a:alphaModFix/>
          </a:blip>
          <a:stretch>
            <a:fillRect/>
          </a:stretch>
        </p:blipFill>
        <p:spPr>
          <a:xfrm>
            <a:off x="3824275" y="2649399"/>
            <a:ext cx="3032850" cy="1894450"/>
          </a:xfrm>
          <a:prstGeom prst="rect">
            <a:avLst/>
          </a:prstGeom>
          <a:noFill/>
          <a:ln>
            <a:noFill/>
          </a:ln>
        </p:spPr>
      </p:pic>
      <p:pic>
        <p:nvPicPr>
          <p:cNvPr id="474" name="Google Shape;474;p58"/>
          <p:cNvPicPr preferRelativeResize="0"/>
          <p:nvPr/>
        </p:nvPicPr>
        <p:blipFill>
          <a:blip r:embed="rId4">
            <a:alphaModFix/>
          </a:blip>
          <a:stretch>
            <a:fillRect/>
          </a:stretch>
        </p:blipFill>
        <p:spPr>
          <a:xfrm>
            <a:off x="5426400" y="440300"/>
            <a:ext cx="3168351" cy="20780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Aggregates</a:t>
            </a:r>
            <a:endParaRPr/>
          </a:p>
        </p:txBody>
      </p:sp>
      <p:sp>
        <p:nvSpPr>
          <p:cNvPr id="480" name="Google Shape;480;p5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Aggregate:</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Aggregate Root: Game</a:t>
            </a:r>
            <a:endParaRPr>
              <a:latin typeface="Economica"/>
              <a:ea typeface="Economica"/>
              <a:cs typeface="Economica"/>
              <a:sym typeface="Economica"/>
            </a:endParaRPr>
          </a:p>
          <a:p>
            <a:pPr indent="-317500" lvl="2" marL="1371600" rtl="0" algn="l">
              <a:spcBef>
                <a:spcPts val="0"/>
              </a:spcBef>
              <a:spcAft>
                <a:spcPts val="0"/>
              </a:spcAft>
              <a:buSzPts val="1400"/>
              <a:buFont typeface="Economica"/>
              <a:buChar char="■"/>
            </a:pPr>
            <a:r>
              <a:rPr lang="de">
                <a:latin typeface="Economica"/>
                <a:ea typeface="Economica"/>
                <a:cs typeface="Economica"/>
                <a:sym typeface="Economica"/>
              </a:rPr>
              <a:t>alle Zugriffe über Game</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interne Angelegenheiten bleiben im Aggregate</a:t>
            </a:r>
            <a:endParaRPr>
              <a:latin typeface="Economica"/>
              <a:ea typeface="Economica"/>
              <a:cs typeface="Economica"/>
              <a:sym typeface="Economica"/>
            </a:endParaRPr>
          </a:p>
          <a:p>
            <a:pPr indent="0" lvl="0" marL="0" rtl="0" algn="l">
              <a:spcBef>
                <a:spcPts val="1200"/>
              </a:spcBef>
              <a:spcAft>
                <a:spcPts val="0"/>
              </a:spcAft>
              <a:buNone/>
            </a:pPr>
            <a:r>
              <a:t/>
            </a:r>
            <a:endParaRPr sz="1400">
              <a:solidFill>
                <a:srgbClr val="00FF00"/>
              </a:solidFill>
              <a:latin typeface="Economica"/>
              <a:ea typeface="Economica"/>
              <a:cs typeface="Economica"/>
              <a:sym typeface="Economica"/>
            </a:endParaRPr>
          </a:p>
          <a:p>
            <a:pPr indent="0" lvl="0" marL="0" rtl="0" algn="l">
              <a:spcBef>
                <a:spcPts val="1200"/>
              </a:spcBef>
              <a:spcAft>
                <a:spcPts val="0"/>
              </a:spcAft>
              <a:buNone/>
            </a:pPr>
            <a:r>
              <a:t/>
            </a:r>
            <a:endParaRPr sz="1400">
              <a:solidFill>
                <a:srgbClr val="00FF00"/>
              </a:solidFill>
              <a:latin typeface="Economica"/>
              <a:ea typeface="Economica"/>
              <a:cs typeface="Economica"/>
              <a:sym typeface="Economica"/>
            </a:endParaRPr>
          </a:p>
          <a:p>
            <a:pPr indent="0" lvl="0" marL="0" rtl="0" algn="l">
              <a:spcBef>
                <a:spcPts val="1200"/>
              </a:spcBef>
              <a:spcAft>
                <a:spcPts val="1200"/>
              </a:spcAft>
              <a:buNone/>
            </a:pPr>
            <a:r>
              <a:rPr lang="de">
                <a:latin typeface="Economica"/>
                <a:ea typeface="Economica"/>
                <a:cs typeface="Economica"/>
                <a:sym typeface="Economica"/>
              </a:rPr>
              <a:t>Warum? → Komplexität reduzieren</a:t>
            </a:r>
            <a:endParaRPr>
              <a:latin typeface="Economica"/>
              <a:ea typeface="Economica"/>
              <a:cs typeface="Economica"/>
              <a:sym typeface="Economica"/>
            </a:endParaRPr>
          </a:p>
        </p:txBody>
      </p:sp>
      <p:sp>
        <p:nvSpPr>
          <p:cNvPr id="481" name="Google Shape;48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82" name="Google Shape;482;p59"/>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83" name="Google Shape;483;p59" title="Game_Aggregate_Root-Game_Aggregate_Root.png"/>
          <p:cNvPicPr preferRelativeResize="0"/>
          <p:nvPr/>
        </p:nvPicPr>
        <p:blipFill>
          <a:blip r:embed="rId3">
            <a:alphaModFix/>
          </a:blip>
          <a:stretch>
            <a:fillRect/>
          </a:stretch>
        </p:blipFill>
        <p:spPr>
          <a:xfrm>
            <a:off x="4763125" y="818500"/>
            <a:ext cx="3709325" cy="38447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Value Objects &amp; Entities</a:t>
            </a:r>
            <a:endParaRPr/>
          </a:p>
        </p:txBody>
      </p:sp>
      <p:sp>
        <p:nvSpPr>
          <p:cNvPr id="489" name="Google Shape;489;p6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VO: Move</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immutable (ändert Wert nicht mehr)</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hat keine Identität</a:t>
            </a:r>
            <a:br>
              <a:rPr lang="de">
                <a:latin typeface="Economica"/>
                <a:ea typeface="Economica"/>
                <a:cs typeface="Economica"/>
                <a:sym typeface="Economica"/>
              </a:rPr>
            </a:b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Entity: Tile</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ändert Wert (IsOccupied usw.)</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besitzt Lebenszyklus</a:t>
            </a:r>
            <a:endParaRPr>
              <a:latin typeface="Economica"/>
              <a:ea typeface="Economica"/>
              <a:cs typeface="Economica"/>
              <a:sym typeface="Economica"/>
            </a:endParaRPr>
          </a:p>
          <a:p>
            <a:pPr indent="-317500" lvl="1" marL="914400" rtl="0" algn="l">
              <a:spcBef>
                <a:spcPts val="0"/>
              </a:spcBef>
              <a:spcAft>
                <a:spcPts val="0"/>
              </a:spcAft>
              <a:buSzPts val="1400"/>
              <a:buFont typeface="Economica"/>
              <a:buChar char="○"/>
            </a:pPr>
            <a:r>
              <a:rPr lang="de">
                <a:latin typeface="Economica"/>
                <a:ea typeface="Economica"/>
                <a:cs typeface="Economica"/>
                <a:sym typeface="Economica"/>
              </a:rPr>
              <a:t>hat eine Identität</a:t>
            </a:r>
            <a:endParaRPr/>
          </a:p>
        </p:txBody>
      </p:sp>
      <p:sp>
        <p:nvSpPr>
          <p:cNvPr id="490" name="Google Shape;490;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91" name="Google Shape;491;p60"/>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492" name="Google Shape;492;p60" title="Game_Aggregate_Root-Game_Aggregate_Root.png"/>
          <p:cNvPicPr preferRelativeResize="0"/>
          <p:nvPr/>
        </p:nvPicPr>
        <p:blipFill>
          <a:blip r:embed="rId3">
            <a:alphaModFix/>
          </a:blip>
          <a:stretch>
            <a:fillRect/>
          </a:stretch>
        </p:blipFill>
        <p:spPr>
          <a:xfrm>
            <a:off x="4763125" y="818500"/>
            <a:ext cx="3709325" cy="38447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1"/>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Refactoring</a:t>
            </a:r>
            <a:endParaRPr/>
          </a:p>
        </p:txBody>
      </p:sp>
      <p:sp>
        <p:nvSpPr>
          <p:cNvPr id="498" name="Google Shape;498;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499" name="Google Shape;499;p61"/>
          <p:cNvSpPr txBox="1"/>
          <p:nvPr>
            <p:ph idx="2" type="sldNum"/>
          </p:nvPr>
        </p:nvSpPr>
        <p:spPr>
          <a:xfrm>
            <a:off x="311684" y="4663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Code Smell: Code Comments</a:t>
            </a:r>
            <a:endParaRPr/>
          </a:p>
        </p:txBody>
      </p:sp>
      <p:sp>
        <p:nvSpPr>
          <p:cNvPr id="505" name="Google Shape;505;p6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e"/>
              <a:t>MoveValidator Klasse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de"/>
              <a:t>Selbsterklärende Kommentare</a:t>
            </a:r>
            <a:endParaRPr/>
          </a:p>
          <a:p>
            <a:pPr indent="-342900" lvl="0" marL="457200" rtl="0" algn="l">
              <a:spcBef>
                <a:spcPts val="0"/>
              </a:spcBef>
              <a:spcAft>
                <a:spcPts val="0"/>
              </a:spcAft>
              <a:buSzPts val="1800"/>
              <a:buChar char="●"/>
            </a:pPr>
            <a:r>
              <a:rPr lang="de"/>
              <a:t>Legacy Kommentare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de"/>
              <a:t>Lösung → Kommentare löschen</a:t>
            </a:r>
            <a:endParaRPr/>
          </a:p>
        </p:txBody>
      </p:sp>
      <p:sp>
        <p:nvSpPr>
          <p:cNvPr id="506" name="Google Shape;506;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07" name="Google Shape;507;p62"/>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508" name="Google Shape;508;p62"/>
          <p:cNvPicPr preferRelativeResize="0"/>
          <p:nvPr/>
        </p:nvPicPr>
        <p:blipFill>
          <a:blip r:embed="rId3">
            <a:alphaModFix/>
          </a:blip>
          <a:stretch>
            <a:fillRect/>
          </a:stretch>
        </p:blipFill>
        <p:spPr>
          <a:xfrm>
            <a:off x="4282400" y="1317737"/>
            <a:ext cx="4378524" cy="2688251"/>
          </a:xfrm>
          <a:prstGeom prst="rect">
            <a:avLst/>
          </a:prstGeom>
          <a:noFill/>
          <a:ln>
            <a:noFill/>
          </a:ln>
        </p:spPr>
      </p:pic>
      <p:pic>
        <p:nvPicPr>
          <p:cNvPr id="509" name="Google Shape;509;p62"/>
          <p:cNvPicPr preferRelativeResize="0"/>
          <p:nvPr/>
        </p:nvPicPr>
        <p:blipFill>
          <a:blip r:embed="rId4">
            <a:alphaModFix/>
          </a:blip>
          <a:stretch>
            <a:fillRect/>
          </a:stretch>
        </p:blipFill>
        <p:spPr>
          <a:xfrm>
            <a:off x="4786540" y="4176500"/>
            <a:ext cx="3534850" cy="5690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Code Smell: Long Class</a:t>
            </a:r>
            <a:endParaRPr/>
          </a:p>
        </p:txBody>
      </p:sp>
      <p:sp>
        <p:nvSpPr>
          <p:cNvPr id="515" name="Google Shape;515;p6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de">
                <a:solidFill>
                  <a:srgbClr val="000000"/>
                </a:solidFill>
              </a:rPr>
              <a:t>Gameboard Klasse → 416 Zeilen Code</a:t>
            </a:r>
            <a:endParaRPr>
              <a:solidFill>
                <a:srgbClr val="000000"/>
              </a:solidFill>
            </a:endParaRPr>
          </a:p>
          <a:p>
            <a:pPr indent="-342900" lvl="0" marL="457200" rtl="0" algn="l">
              <a:spcBef>
                <a:spcPts val="0"/>
              </a:spcBef>
              <a:spcAft>
                <a:spcPts val="0"/>
              </a:spcAft>
              <a:buClr>
                <a:srgbClr val="000000"/>
              </a:buClr>
              <a:buSzPts val="1800"/>
              <a:buChar char="●"/>
            </a:pPr>
            <a:r>
              <a:rPr lang="de">
                <a:solidFill>
                  <a:srgbClr val="000000"/>
                </a:solidFill>
              </a:rPr>
              <a:t>orchestriert Spielbrett Daten</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1200"/>
              </a:spcAft>
              <a:buNone/>
            </a:pPr>
            <a:r>
              <a:rPr lang="de">
                <a:solidFill>
                  <a:srgbClr val="000000"/>
                </a:solidFill>
              </a:rPr>
              <a:t>Lösung → mehrere Klassen</a:t>
            </a:r>
            <a:endParaRPr>
              <a:solidFill>
                <a:srgbClr val="000000"/>
              </a:solidFill>
            </a:endParaRPr>
          </a:p>
        </p:txBody>
      </p:sp>
      <p:sp>
        <p:nvSpPr>
          <p:cNvPr id="516" name="Google Shape;516;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17" name="Google Shape;517;p63"/>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4"/>
          <p:cNvSpPr txBox="1"/>
          <p:nvPr>
            <p:ph type="title"/>
          </p:nvPr>
        </p:nvSpPr>
        <p:spPr>
          <a:xfrm>
            <a:off x="311700" y="315925"/>
            <a:ext cx="8520600" cy="83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Clr>
                <a:schemeClr val="dk1"/>
              </a:buClr>
              <a:buSzPct val="26190"/>
              <a:buFont typeface="Arial"/>
              <a:buNone/>
            </a:pPr>
            <a:r>
              <a:t/>
            </a:r>
            <a:endParaRPr/>
          </a:p>
          <a:p>
            <a:pPr indent="0" lvl="0" marL="0" rtl="0" algn="l">
              <a:spcBef>
                <a:spcPts val="0"/>
              </a:spcBef>
              <a:spcAft>
                <a:spcPts val="0"/>
              </a:spcAft>
              <a:buNone/>
            </a:pPr>
            <a:r>
              <a:rPr lang="de"/>
              <a:t>Code Smell: Long Class</a:t>
            </a:r>
            <a:endParaRPr/>
          </a:p>
        </p:txBody>
      </p:sp>
      <p:sp>
        <p:nvSpPr>
          <p:cNvPr id="523" name="Google Shape;523;p64"/>
          <p:cNvSpPr txBox="1"/>
          <p:nvPr>
            <p:ph idx="1" type="body"/>
          </p:nvPr>
        </p:nvSpPr>
        <p:spPr>
          <a:xfrm>
            <a:off x="3130525" y="2189750"/>
            <a:ext cx="780900" cy="1212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e"/>
              <a:t>→</a:t>
            </a:r>
            <a:endParaRPr/>
          </a:p>
        </p:txBody>
      </p:sp>
      <p:sp>
        <p:nvSpPr>
          <p:cNvPr id="524" name="Google Shape;524;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25" name="Google Shape;525;p64"/>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526" name="Google Shape;526;p64"/>
          <p:cNvPicPr preferRelativeResize="0"/>
          <p:nvPr/>
        </p:nvPicPr>
        <p:blipFill>
          <a:blip r:embed="rId3">
            <a:alphaModFix/>
          </a:blip>
          <a:stretch>
            <a:fillRect/>
          </a:stretch>
        </p:blipFill>
        <p:spPr>
          <a:xfrm>
            <a:off x="3615157" y="1096000"/>
            <a:ext cx="5405994" cy="3701399"/>
          </a:xfrm>
          <a:prstGeom prst="rect">
            <a:avLst/>
          </a:prstGeom>
          <a:noFill/>
          <a:ln>
            <a:noFill/>
          </a:ln>
        </p:spPr>
      </p:pic>
      <p:pic>
        <p:nvPicPr>
          <p:cNvPr id="527" name="Google Shape;527;p64"/>
          <p:cNvPicPr preferRelativeResize="0"/>
          <p:nvPr/>
        </p:nvPicPr>
        <p:blipFill>
          <a:blip r:embed="rId4">
            <a:alphaModFix/>
          </a:blip>
          <a:stretch>
            <a:fillRect/>
          </a:stretch>
        </p:blipFill>
        <p:spPr>
          <a:xfrm>
            <a:off x="64850" y="2028825"/>
            <a:ext cx="2990335" cy="108583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Refactorings</a:t>
            </a:r>
            <a:endParaRPr/>
          </a:p>
        </p:txBody>
      </p:sp>
      <p:sp>
        <p:nvSpPr>
          <p:cNvPr id="533" name="Google Shape;533;p6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04800" lvl="0" marL="457200" rtl="0" algn="l">
              <a:lnSpc>
                <a:spcPct val="137500"/>
              </a:lnSpc>
              <a:spcBef>
                <a:spcPts val="0"/>
              </a:spcBef>
              <a:spcAft>
                <a:spcPts val="0"/>
              </a:spcAft>
              <a:buSzPts val="1200"/>
              <a:buFont typeface="Arial"/>
              <a:buAutoNum type="arabicPeriod"/>
            </a:pPr>
            <a:r>
              <a:rPr lang="de" sz="1200">
                <a:latin typeface="Economica"/>
                <a:ea typeface="Economica"/>
                <a:cs typeface="Economica"/>
                <a:sym typeface="Economica"/>
              </a:rPr>
              <a:t>Logging für game events &amp; Client/Server Startup: </a:t>
            </a:r>
            <a:r>
              <a:rPr lang="de" sz="1200">
                <a:solidFill>
                  <a:schemeClr val="hlink"/>
                </a:solidFill>
                <a:uFill>
                  <a:noFill/>
                </a:uFill>
                <a:latin typeface="Economica"/>
                <a:ea typeface="Economica"/>
                <a:cs typeface="Economica"/>
                <a:sym typeface="Economica"/>
                <a:hlinkClick r:id="rId3"/>
              </a:rPr>
              <a:t>https://github.com/denmasch/Mensch-aergere-dich-nicht/commit/d889eeb74609fe739501a85463b72194655ee0ac</a:t>
            </a:r>
            <a:r>
              <a:rPr lang="de" sz="1200">
                <a:latin typeface="Economica"/>
                <a:ea typeface="Economica"/>
                <a:cs typeface="Economica"/>
                <a:sym typeface="Economica"/>
              </a:rPr>
              <a:t> </a:t>
            </a:r>
            <a:endParaRPr sz="1200">
              <a:latin typeface="Economica"/>
              <a:ea typeface="Economica"/>
              <a:cs typeface="Economica"/>
              <a:sym typeface="Economica"/>
            </a:endParaRPr>
          </a:p>
          <a:p>
            <a:pPr indent="-304800" lvl="0" marL="457200" rtl="0" algn="l">
              <a:lnSpc>
                <a:spcPct val="137500"/>
              </a:lnSpc>
              <a:spcBef>
                <a:spcPts val="0"/>
              </a:spcBef>
              <a:spcAft>
                <a:spcPts val="0"/>
              </a:spcAft>
              <a:buSzPts val="1200"/>
              <a:buFont typeface="Economica"/>
              <a:buAutoNum type="arabicPeriod"/>
            </a:pPr>
            <a:r>
              <a:rPr lang="de" sz="1200">
                <a:latin typeface="Economica"/>
                <a:ea typeface="Economica"/>
                <a:cs typeface="Economica"/>
                <a:sym typeface="Economica"/>
              </a:rPr>
              <a:t>Großes Refactoring: </a:t>
            </a:r>
            <a:r>
              <a:rPr lang="de" sz="1200" u="sng">
                <a:solidFill>
                  <a:schemeClr val="accent5"/>
                </a:solidFill>
                <a:latin typeface="Economica"/>
                <a:ea typeface="Economica"/>
                <a:cs typeface="Economica"/>
                <a:sym typeface="Economica"/>
                <a:hlinkClick r:id="rId4">
                  <a:extLst>
                    <a:ext uri="{A12FA001-AC4F-418D-AE19-62706E023703}">
                      <ahyp:hlinkClr val="tx"/>
                    </a:ext>
                  </a:extLst>
                </a:hlinkClick>
              </a:rPr>
              <a:t>https://github.com/denmasch/Mensch-aergere-dich-nicht/commit/3ff24fe5bb2b1f305bc6ec36224c05cd3a983e4f</a:t>
            </a:r>
            <a:r>
              <a:rPr lang="de" sz="1200">
                <a:latin typeface="Economica"/>
                <a:ea typeface="Economica"/>
                <a:cs typeface="Economica"/>
                <a:sym typeface="Economica"/>
              </a:rPr>
              <a:t> </a:t>
            </a:r>
            <a:endParaRPr sz="1200">
              <a:latin typeface="Economica"/>
              <a:ea typeface="Economica"/>
              <a:cs typeface="Economica"/>
              <a:sym typeface="Economica"/>
            </a:endParaRPr>
          </a:p>
          <a:p>
            <a:pPr indent="-304800" lvl="1" marL="914400" rtl="0" algn="l">
              <a:lnSpc>
                <a:spcPct val="137500"/>
              </a:lnSpc>
              <a:spcBef>
                <a:spcPts val="0"/>
              </a:spcBef>
              <a:spcAft>
                <a:spcPts val="0"/>
              </a:spcAft>
              <a:buSzPts val="1200"/>
              <a:buFont typeface="Economica"/>
              <a:buAutoNum type="alphaLcPeriod"/>
            </a:pPr>
            <a:r>
              <a:rPr lang="de" sz="1200">
                <a:latin typeface="Economica"/>
                <a:ea typeface="Economica"/>
                <a:cs typeface="Economica"/>
                <a:sym typeface="Economica"/>
              </a:rPr>
              <a:t>Statische Services sind nicht mehr statisch </a:t>
            </a:r>
            <a:endParaRPr sz="1200">
              <a:latin typeface="Economica"/>
              <a:ea typeface="Economica"/>
              <a:cs typeface="Economica"/>
              <a:sym typeface="Economica"/>
            </a:endParaRPr>
          </a:p>
          <a:p>
            <a:pPr indent="-304800" lvl="1" marL="914400" rtl="0" algn="l">
              <a:lnSpc>
                <a:spcPct val="137500"/>
              </a:lnSpc>
              <a:spcBef>
                <a:spcPts val="0"/>
              </a:spcBef>
              <a:spcAft>
                <a:spcPts val="0"/>
              </a:spcAft>
              <a:buSzPts val="1200"/>
              <a:buFont typeface="Economica"/>
              <a:buAutoNum type="alphaLcPeriod"/>
            </a:pPr>
            <a:r>
              <a:rPr lang="de" sz="1200">
                <a:latin typeface="Economica"/>
                <a:ea typeface="Economica"/>
                <a:cs typeface="Economica"/>
                <a:sym typeface="Economica"/>
              </a:rPr>
              <a:t>bei jedem Service wurde ein Interface extrahiert </a:t>
            </a:r>
            <a:endParaRPr sz="1200">
              <a:latin typeface="Economica"/>
              <a:ea typeface="Economica"/>
              <a:cs typeface="Economica"/>
              <a:sym typeface="Economica"/>
            </a:endParaRPr>
          </a:p>
          <a:p>
            <a:pPr indent="-304800" lvl="1" marL="914400" rtl="0" algn="l">
              <a:lnSpc>
                <a:spcPct val="137500"/>
              </a:lnSpc>
              <a:spcBef>
                <a:spcPts val="0"/>
              </a:spcBef>
              <a:spcAft>
                <a:spcPts val="0"/>
              </a:spcAft>
              <a:buSzPts val="1200"/>
              <a:buFont typeface="Economica"/>
              <a:buAutoNum type="alphaLcPeriod"/>
            </a:pPr>
            <a:r>
              <a:rPr lang="de" sz="1200">
                <a:latin typeface="Economica"/>
                <a:ea typeface="Economica"/>
                <a:cs typeface="Economica"/>
                <a:sym typeface="Economica"/>
              </a:rPr>
              <a:t>Beim Start des Servers werden die Services einmal registriert und an den benötigten stellen injiziert (Dependency Injection)</a:t>
            </a:r>
            <a:endParaRPr sz="1200">
              <a:latin typeface="Economica"/>
              <a:ea typeface="Economica"/>
              <a:cs typeface="Economica"/>
              <a:sym typeface="Economica"/>
            </a:endParaRPr>
          </a:p>
          <a:p>
            <a:pPr indent="-304800" lvl="1" marL="914400" rtl="0" algn="l">
              <a:lnSpc>
                <a:spcPct val="137500"/>
              </a:lnSpc>
              <a:spcBef>
                <a:spcPts val="0"/>
              </a:spcBef>
              <a:spcAft>
                <a:spcPts val="0"/>
              </a:spcAft>
              <a:buSzPts val="1200"/>
              <a:buFont typeface="Economica"/>
              <a:buAutoNum type="alphaLcPeriod"/>
            </a:pPr>
            <a:r>
              <a:rPr lang="de" sz="1200">
                <a:latin typeface="Economica"/>
                <a:ea typeface="Economica"/>
                <a:cs typeface="Economica"/>
                <a:sym typeface="Economica"/>
              </a:rPr>
              <a:t>Angepasste Unit-Test mit neuen Mock-Klassen</a:t>
            </a:r>
            <a:endParaRPr sz="1200">
              <a:latin typeface="Economica"/>
              <a:ea typeface="Economica"/>
              <a:cs typeface="Economica"/>
              <a:sym typeface="Economica"/>
            </a:endParaRPr>
          </a:p>
        </p:txBody>
      </p:sp>
      <p:sp>
        <p:nvSpPr>
          <p:cNvPr id="534" name="Google Shape;534;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35" name="Google Shape;535;p65"/>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6"/>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Entwurfsmuster</a:t>
            </a:r>
            <a:endParaRPr/>
          </a:p>
        </p:txBody>
      </p:sp>
      <p:sp>
        <p:nvSpPr>
          <p:cNvPr id="541" name="Google Shape;541;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42" name="Google Shape;542;p66"/>
          <p:cNvSpPr txBox="1"/>
          <p:nvPr>
            <p:ph idx="2" type="sldNum"/>
          </p:nvPr>
        </p:nvSpPr>
        <p:spPr>
          <a:xfrm>
            <a:off x="311684" y="4663225"/>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Singleton: StatsService</a:t>
            </a:r>
            <a:endParaRPr/>
          </a:p>
        </p:txBody>
      </p:sp>
      <p:sp>
        <p:nvSpPr>
          <p:cNvPr id="548" name="Google Shape;548;p67"/>
          <p:cNvSpPr txBox="1"/>
          <p:nvPr>
            <p:ph idx="1" type="body"/>
          </p:nvPr>
        </p:nvSpPr>
        <p:spPr>
          <a:xfrm>
            <a:off x="311700" y="1225225"/>
            <a:ext cx="2442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latin typeface="Economica"/>
                <a:ea typeface="Economica"/>
                <a:cs typeface="Economica"/>
                <a:sym typeface="Economica"/>
              </a:rPr>
              <a:t>Vor Refactoring:</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de">
                <a:latin typeface="Economica"/>
                <a:ea typeface="Economica"/>
                <a:cs typeface="Economica"/>
                <a:sym typeface="Economica"/>
              </a:rPr>
              <a:t>Einfacher Zugriff</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Eine zentrale Instanz</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Lazy </a:t>
            </a:r>
            <a:r>
              <a:rPr lang="de">
                <a:latin typeface="Economica"/>
                <a:ea typeface="Economica"/>
                <a:cs typeface="Economica"/>
                <a:sym typeface="Economica"/>
              </a:rPr>
              <a:t>initialization</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Singleton garantiert sequenziellen Zugriff beim Schreiben von Dateien</a:t>
            </a:r>
            <a:endParaRPr>
              <a:latin typeface="Economica"/>
              <a:ea typeface="Economica"/>
              <a:cs typeface="Economica"/>
              <a:sym typeface="Economica"/>
            </a:endParaRPr>
          </a:p>
        </p:txBody>
      </p:sp>
      <p:sp>
        <p:nvSpPr>
          <p:cNvPr id="549" name="Google Shape;549;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50" name="Google Shape;550;p67"/>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551" name="Google Shape;551;p67"/>
          <p:cNvPicPr preferRelativeResize="0"/>
          <p:nvPr/>
        </p:nvPicPr>
        <p:blipFill>
          <a:blip r:embed="rId3">
            <a:alphaModFix/>
          </a:blip>
          <a:stretch>
            <a:fillRect/>
          </a:stretch>
        </p:blipFill>
        <p:spPr>
          <a:xfrm>
            <a:off x="2754300" y="1661025"/>
            <a:ext cx="6266874" cy="24884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Singleton</a:t>
            </a:r>
            <a:r>
              <a:rPr lang="de"/>
              <a:t>:</a:t>
            </a:r>
            <a:r>
              <a:rPr lang="de"/>
              <a:t> </a:t>
            </a:r>
            <a:r>
              <a:rPr lang="de"/>
              <a:t>StatsService</a:t>
            </a:r>
            <a:endParaRPr/>
          </a:p>
        </p:txBody>
      </p:sp>
      <p:sp>
        <p:nvSpPr>
          <p:cNvPr id="557" name="Google Shape;557;p6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latin typeface="Economica"/>
                <a:ea typeface="Economica"/>
                <a:cs typeface="Economica"/>
                <a:sym typeface="Economica"/>
              </a:rPr>
              <a:t>Nach Refactoring:</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de">
                <a:latin typeface="Economica"/>
                <a:ea typeface="Economica"/>
                <a:cs typeface="Economica"/>
                <a:sym typeface="Economica"/>
              </a:rPr>
              <a:t>AspNet DI-Container Umsetzung</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Stellt sicher das es eine Instanz gibt und Dependency Injection möglich ist </a:t>
            </a:r>
            <a:endParaRPr>
              <a:latin typeface="Economica"/>
              <a:ea typeface="Economica"/>
              <a:cs typeface="Economica"/>
              <a:sym typeface="Economica"/>
            </a:endParaRPr>
          </a:p>
        </p:txBody>
      </p:sp>
      <p:sp>
        <p:nvSpPr>
          <p:cNvPr id="558" name="Google Shape;558;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59" name="Google Shape;559;p68"/>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560" name="Google Shape;560;p68"/>
          <p:cNvPicPr preferRelativeResize="0"/>
          <p:nvPr/>
        </p:nvPicPr>
        <p:blipFill>
          <a:blip r:embed="rId3">
            <a:alphaModFix/>
          </a:blip>
          <a:stretch>
            <a:fillRect/>
          </a:stretch>
        </p:blipFill>
        <p:spPr>
          <a:xfrm>
            <a:off x="1019350" y="2654079"/>
            <a:ext cx="7105300" cy="45474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Observer</a:t>
            </a:r>
            <a:endParaRPr/>
          </a:p>
        </p:txBody>
      </p:sp>
      <p:sp>
        <p:nvSpPr>
          <p:cNvPr id="566" name="Google Shape;566;p69"/>
          <p:cNvSpPr txBox="1"/>
          <p:nvPr>
            <p:ph idx="1" type="body"/>
          </p:nvPr>
        </p:nvSpPr>
        <p:spPr>
          <a:xfrm>
            <a:off x="311700" y="1225225"/>
            <a:ext cx="35724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GameFinished event teilt GameManager automatisch mit das das Spiel vorbei ist</a:t>
            </a:r>
            <a:endParaRPr>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de">
                <a:latin typeface="Economica"/>
                <a:ea typeface="Economica"/>
                <a:cs typeface="Economica"/>
                <a:sym typeface="Economica"/>
              </a:rPr>
              <a:t>Game muss GameManager nicht kennen</a:t>
            </a:r>
            <a:endParaRPr>
              <a:latin typeface="Economica"/>
              <a:ea typeface="Economica"/>
              <a:cs typeface="Economica"/>
              <a:sym typeface="Economica"/>
            </a:endParaRPr>
          </a:p>
        </p:txBody>
      </p:sp>
      <p:sp>
        <p:nvSpPr>
          <p:cNvPr id="567" name="Google Shape;567;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68" name="Google Shape;568;p69"/>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pic>
        <p:nvPicPr>
          <p:cNvPr id="569" name="Google Shape;569;p69"/>
          <p:cNvPicPr preferRelativeResize="0"/>
          <p:nvPr/>
        </p:nvPicPr>
        <p:blipFill>
          <a:blip r:embed="rId3">
            <a:alphaModFix/>
          </a:blip>
          <a:stretch>
            <a:fillRect/>
          </a:stretch>
        </p:blipFill>
        <p:spPr>
          <a:xfrm>
            <a:off x="4050450" y="382500"/>
            <a:ext cx="4280100" cy="41000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Bildquellen</a:t>
            </a:r>
            <a:endParaRPr/>
          </a:p>
        </p:txBody>
      </p:sp>
      <p:sp>
        <p:nvSpPr>
          <p:cNvPr id="575" name="Google Shape;575;p7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Font typeface="Economica"/>
              <a:buChar char="●"/>
            </a:pPr>
            <a:r>
              <a:rPr lang="de" sz="1200" u="sng">
                <a:solidFill>
                  <a:schemeClr val="hlink"/>
                </a:solidFill>
                <a:latin typeface="Economica"/>
                <a:ea typeface="Economica"/>
                <a:cs typeface="Economica"/>
                <a:sym typeface="Economica"/>
                <a:hlinkClick r:id="rId3"/>
              </a:rPr>
              <a:t>https://de.wikipedia.org/wiki/Mensch_%C3%A4rgere_Dich_nicht#/media/Datei:Mensch_%C3%A4rgere_dich_nicht_4.svg</a:t>
            </a:r>
            <a:r>
              <a:rPr lang="de" sz="1200">
                <a:latin typeface="Economica"/>
                <a:ea typeface="Economica"/>
                <a:cs typeface="Economica"/>
                <a:sym typeface="Economica"/>
              </a:rPr>
              <a:t> </a:t>
            </a:r>
            <a:endParaRPr sz="1200">
              <a:latin typeface="Economica"/>
              <a:ea typeface="Economica"/>
              <a:cs typeface="Economica"/>
              <a:sym typeface="Economica"/>
            </a:endParaRPr>
          </a:p>
        </p:txBody>
      </p:sp>
      <p:sp>
        <p:nvSpPr>
          <p:cNvPr id="576" name="Google Shape;576;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77" name="Google Shape;577;p70"/>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1" name="Shape 581"/>
        <p:cNvGrpSpPr/>
        <p:nvPr/>
      </p:nvGrpSpPr>
      <p:grpSpPr>
        <a:xfrm>
          <a:off x="0" y="0"/>
          <a:ext cx="0" cy="0"/>
          <a:chOff x="0" y="0"/>
          <a:chExt cx="0" cy="0"/>
        </a:xfrm>
      </p:grpSpPr>
      <p:sp>
        <p:nvSpPr>
          <p:cNvPr id="582" name="Google Shape;582;p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de"/>
              <a:t>Code Smell: Duplicate Code</a:t>
            </a:r>
            <a:endParaRPr/>
          </a:p>
        </p:txBody>
      </p:sp>
      <p:sp>
        <p:nvSpPr>
          <p:cNvPr id="583" name="Google Shape;583;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584" name="Google Shape;584;p71"/>
          <p:cNvSpPr txBox="1"/>
          <p:nvPr>
            <p:ph idx="2" type="sldNum"/>
          </p:nvPr>
        </p:nvSpPr>
        <p:spPr>
          <a:xfrm>
            <a:off x="311709" y="4615663"/>
            <a:ext cx="1696500" cy="3936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de"/>
              <a:t>Devin Schnurr</a:t>
            </a:r>
            <a:endParaRPr/>
          </a:p>
          <a:p>
            <a:pPr indent="0" lvl="0" marL="0" rtl="0" algn="l">
              <a:spcBef>
                <a:spcPts val="0"/>
              </a:spcBef>
              <a:spcAft>
                <a:spcPts val="0"/>
              </a:spcAft>
              <a:buNone/>
            </a:pPr>
            <a:r>
              <a:rPr lang="de"/>
              <a:t>Jannik Metz</a:t>
            </a:r>
            <a:endParaRPr/>
          </a:p>
        </p:txBody>
      </p:sp>
      <p:sp>
        <p:nvSpPr>
          <p:cNvPr id="585" name="Google Shape;585;p71"/>
          <p:cNvSpPr txBox="1"/>
          <p:nvPr/>
        </p:nvSpPr>
        <p:spPr>
          <a:xfrm>
            <a:off x="311700" y="2496800"/>
            <a:ext cx="85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800">
                <a:solidFill>
                  <a:schemeClr val="dk1"/>
                </a:solidFill>
                <a:latin typeface="Economica"/>
                <a:ea typeface="Economica"/>
                <a:cs typeface="Economica"/>
                <a:sym typeface="Economica"/>
              </a:rPr>
              <a:t>Vorher:</a:t>
            </a:r>
            <a:endParaRPr sz="1800">
              <a:solidFill>
                <a:schemeClr val="dk1"/>
              </a:solidFill>
              <a:latin typeface="Economica"/>
              <a:ea typeface="Economica"/>
              <a:cs typeface="Economica"/>
              <a:sym typeface="Economica"/>
            </a:endParaRPr>
          </a:p>
        </p:txBody>
      </p:sp>
      <p:pic>
        <p:nvPicPr>
          <p:cNvPr id="586" name="Google Shape;586;p71"/>
          <p:cNvPicPr preferRelativeResize="0"/>
          <p:nvPr/>
        </p:nvPicPr>
        <p:blipFill>
          <a:blip r:embed="rId3">
            <a:alphaModFix/>
          </a:blip>
          <a:stretch>
            <a:fillRect/>
          </a:stretch>
        </p:blipFill>
        <p:spPr>
          <a:xfrm>
            <a:off x="1453025" y="1147225"/>
            <a:ext cx="2528000" cy="3851225"/>
          </a:xfrm>
          <a:prstGeom prst="rect">
            <a:avLst/>
          </a:prstGeom>
          <a:noFill/>
          <a:ln>
            <a:noFill/>
          </a:ln>
        </p:spPr>
      </p:pic>
      <p:sp>
        <p:nvSpPr>
          <p:cNvPr id="587" name="Google Shape;587;p71"/>
          <p:cNvSpPr txBox="1"/>
          <p:nvPr/>
        </p:nvSpPr>
        <p:spPr>
          <a:xfrm>
            <a:off x="4334100" y="2496800"/>
            <a:ext cx="85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800">
                <a:solidFill>
                  <a:schemeClr val="dk1"/>
                </a:solidFill>
                <a:latin typeface="Economica"/>
                <a:ea typeface="Economica"/>
                <a:cs typeface="Economica"/>
                <a:sym typeface="Economica"/>
              </a:rPr>
              <a:t>Nachher:</a:t>
            </a:r>
            <a:endParaRPr sz="1800">
              <a:solidFill>
                <a:schemeClr val="dk1"/>
              </a:solidFill>
              <a:latin typeface="Economica"/>
              <a:ea typeface="Economica"/>
              <a:cs typeface="Economica"/>
              <a:sym typeface="Economica"/>
            </a:endParaRPr>
          </a:p>
        </p:txBody>
      </p:sp>
      <p:pic>
        <p:nvPicPr>
          <p:cNvPr id="588" name="Google Shape;588;p71"/>
          <p:cNvPicPr preferRelativeResize="0"/>
          <p:nvPr/>
        </p:nvPicPr>
        <p:blipFill>
          <a:blip r:embed="rId4">
            <a:alphaModFix/>
          </a:blip>
          <a:stretch>
            <a:fillRect/>
          </a:stretch>
        </p:blipFill>
        <p:spPr>
          <a:xfrm>
            <a:off x="5382850" y="1469649"/>
            <a:ext cx="3273475" cy="2516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